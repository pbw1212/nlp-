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8794"/>
    <a:srgbClr val="E6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6"/>
  </p:normalViewPr>
  <p:slideViewPr>
    <p:cSldViewPr snapToGrid="0">
      <p:cViewPr varScale="1">
        <p:scale>
          <a:sx n="90" d="100"/>
          <a:sy n="90" d="100"/>
        </p:scale>
        <p:origin x="8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F02A0-DCFA-4D49-A66F-374873CF6F2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5FE52-611D-495B-9C3A-97950FF0E6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9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 秒。</a:t>
            </a:r>
          </a:p>
          <a:p>
            <a:r>
              <a:t>我们的研究题目是面向长程任务的多智能体记忆，系统名称为 MAPAS。汇报按照研究问题、核心算法、统一协作记忆机制及当前进展与后续工作展开。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38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建议用时：24 秒。</a:t>
            </a:r>
          </a:p>
          <a:p>
            <a:r>
              <a:t>长程任务有三类持续性问题：历史信息会随着交互和约束更新，执行目标和进度需要跨阶段保持，多个角色产生的结果依赖真实的前置输入。MAPAS 因此围绕记忆版本与来源、任务台账与上下文，以及受核验控制的跨角色成果交接设计核心机制。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363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 秒。</a:t>
            </a:r>
          </a:p>
          <a:p>
            <a:r>
              <a:t>项目的技术体系围绕信息如何形成、如何按情境使用、如何支撑持续任务，以及如何在多个 Agent 之间交接和积累。长期记忆管理关注语义提炼与版本；上下文检索综合相关性、适用性和证据充分性；任务状态管理维护检查点和预算内工作集；协作记忆进一步组织跨角色依赖、核验与经验。相关研究提供具体方法和评测思路，后面介绍技术算法与统一架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955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建议用时：45 秒。</a:t>
            </a:r>
          </a:p>
          <a:p>
            <a:r>
              <a:t>记忆写入先从具有真实来源的用户交互获得语义事件，模型提炼具有持久价值的候选，并结合当前有效记忆提出新增、更新、更正或保持不变的操作。确定性程序检查记忆身份、来源和版本，再以原子事务保存当前版本及历史记录。NEMORI 风格的预测残差接口通过对比历史记忆所预测的内容与实际事件，提取新的信息增量；当前自动写入链路主要由持久候选进入生命周期提案，残差分析作为独立的提炼接口。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15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建议用时：48 秒。</a:t>
            </a:r>
          </a:p>
          <a:p>
            <a:r>
              <a:t>系统先从当前有效记忆中召回候选。默认 BM25 按词项相关性排序，可配置向量召回，并通过 RRF 融合不同检索路径的候选名次。随后模型解释当前任务情境和候选记忆的适用范围，结构化判定明确适用、明确不适用、信息不足或存在歧义。适用性判定之后，系统处理候选冲突、去重和篇幅预算，形成带有来源和版本的证据包。检索适用性与证据是否满足任务需求属于两个判断阶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889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建议用时：34 秒。</a:t>
            </a:r>
          </a:p>
          <a:p>
            <a:r>
              <a:t>执行事件先被解释为结构化的任务状态更新提案，程序检查支持片段、事件身份和状态操作是否合法，然后更新任务台账。台账持续保存任务目标、约束、决定、进展与未解决问题；检查点记录继续执行所需的焦点和引用。当前工作上下文依照任务优先级与模型预算，从权威台账、检查点和检索证据中选择必要信息，使任务可以跨会话连续推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32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建议用时：37 秒。</a:t>
            </a:r>
          </a:p>
          <a:p>
            <a:r>
              <a:t>统一协作链由四个角色配合协调器完成。Planner 产生含目标、依赖和完成条件的结构化子任务图；Memory 为每项任务选择有效证据并提供来源和版本；Executor 使用获准工具并留下实际回执和成果；Verifier 对照完成条件检查结果。Coordinator 负责 DAG 合法性、权限、共享预算及持久化交接。经过核验的成果进入执行记忆，并作为依赖它的后续任务输入。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385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 秒。</a:t>
            </a:r>
          </a:p>
          <a:p>
            <a:r>
              <a:t>分层取证首先从子任务完成要求构造证据需求，明确必要字段、适用范围、来源和权限。系统在授权范围内检索当前有效的候选，判断关键条件是否有足够的真实来源支持。证据充分时形成包含来源、版本和支持片段的交接数据；证据不足时进入原始消息、工具回执和成果记录的来源层，补充核验后再判断覆盖情况。持续存在的缺口会进入任务受阻或补充信息处理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322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建议用时：48 秒。</a:t>
            </a:r>
          </a:p>
          <a:p>
            <a:r>
              <a:t>每项任务记录生成计划和执行时实际使用的约束、记忆和前置成果版本，并在调用前与当前权威版本核对。一旦关键输入发生变化，通过反向来源引用确定直接受影响集合 S，再沿任务依赖图求后继闭包 Desc(S)，得到需要处理的集合 A。图中颜色区分受影响分支和继续有效的分支。系统保留 A 之外已验证且输入有效的成果，只重新取证、执行和核验受影响的部分。修复完成后更新成果版本及检查点，并继续按照依赖关系推进任务。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984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建议用时：36 秒。</a:t>
            </a:r>
          </a:p>
          <a:p>
            <a:r>
              <a:t>程序性经验单独组织任务条件、行动步骤、工具环境、真实结果、来源和版本。准入流程先检查来源与权限，再核验结果和关键操作是否有真实记录，最后确认经验适用条件。进入经验库的条目在新任务中重新进行范围和环境匹配，符合条件的经验供执行阶段使用。复用后记录真实质量、成本和失败原因，反馈修订经验版本和适用范围，形成可追溯的使用与更新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529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建议用时：29 秒。</a:t>
            </a:r>
          </a:p>
          <a:p>
            <a:r>
              <a:t>当前系统形成了连续的技术运行链路：长期记忆管理负责内容版本和来源；情境检索生成带有适用性与来源信息的证据；任务状态层维护持续任务台账、检查点和预算内工作集；运行时支持默认单智能体模式，以及可选的规划、记忆、执行与核验四角色串行协作。结构化子任务、工具回执与已核验成果构成协作交接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626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建议用时：33 秒。</a:t>
            </a:r>
          </a:p>
          <a:p>
            <a:r>
              <a:t>后续研究依次完善任务需求驱动的原始来源核查、完整输入版本追踪、依赖局部恢复以及程序性经验复用。实验采用执行方式与记忆增强程度的二乘二对照，在相同任务组、模型、工具权限、历史信息和总预算下比较强单智能体与固定串行多智能体。通过移除单项机制开展消融，评价长程任务成功率、关键约束满足、证据误用、失效传播和实际调用成本。MemoryArena 用于相互依赖的多会话任务，LongMemEval 用于长期记忆诊断。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796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D5FE52-611D-495B-9C3A-97950FF0E6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544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FE886-BBCD-E07D-04F4-3FB0A01F6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C2B77-272E-D4A0-AFE3-3E20873E3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6F8D6C-44A7-27E6-1817-F37CA5F5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21A3B-3F38-B0F5-CED5-0AD13503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A31D92-0C5B-23F3-85AD-C7FFB6F7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98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0BD98-ED32-46CA-4C87-5C34CE84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4ECCB-510A-651E-2EEB-F57CCD2D2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81FC2A-6C5E-DDDF-94B2-DFDFADFC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2E6EFB-1EE7-91D3-B805-11986653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DE6B85-14D9-B7A9-5655-BFD71B15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32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666EE-F579-F7FF-B71A-8E043F96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99DFD-EA09-6226-5F8F-12BFE282B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23AAC4-F8A7-7C00-0364-523CECC8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98EF75-5F23-F7C5-6CDC-CA594CFD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5EA53-D649-B886-E414-299FF729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99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FE37C-88BC-6214-3CFB-621C5144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BAD4F-47F4-E3C1-AB81-B4FA2F4AD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DCDF97-320D-F7D9-9B1E-EB3390177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1E924-2D35-5320-68BE-758FE445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9815DA-DDF6-AF10-F7BF-8BB003B0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720539-3F69-8321-4426-07BAFF48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50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15C74-E10D-46C9-53A1-11303B99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D2D339-437A-907F-A60B-3825BDDBA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524F03-11F1-B33B-FF82-AB24F9BFC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B805ED-7E84-76AC-BAEA-8E70EAB5C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58A748-3912-E5A2-DA55-4DA06F677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DB18C-C3E9-B9F7-98B3-8E46C920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22E7A0-EB5A-14EC-4781-C8EF49B0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1699C5-5801-7742-9E9F-E2DBC69E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9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CBF99-CB2B-ADC7-B40D-1EFA4A57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DB6533-0166-DC59-2050-FCFA808F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50E87A-83C3-E381-3EE6-8C49EBBC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4EFB9B-9D1D-358D-3462-C3214D11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83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45541A-6549-2E3D-8E0F-3F0AD8EC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C97EBC-5FD7-B500-ADAF-EB38A938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770D0F-3D50-4FDD-6204-99903C22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073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B1358-EB11-EFD3-E482-C8353BE5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4DF3F4-D13E-160E-83B1-BB3CC3FEC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A0F48-3DAC-C451-11CF-0571DF6CC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1F926-BD0B-7DD9-02B1-624C8339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669DD5-67F4-590E-3FFE-CD41E25E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84FABE-7411-3754-2CFC-15CA3B0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72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3F96D-93EF-3EFD-3CF1-41215FB0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AC532B-6427-00F4-89BF-CB54B6A8A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887EB1-56DF-46C8-4872-0C3576810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B2ABB7-A16D-BFBA-B1D6-2737B29E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703044-B85A-0C1A-86D5-BBD7861A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37F512-65A0-B7B7-7409-C5808D83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12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39F9E-AF4B-5C82-3BE8-627A5190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6B5E9C-5340-2A2D-A68F-76205000C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BE7E5-EBFE-39D2-7767-8DE646F8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9DE5EA-B313-ADBE-62B0-20F48EA7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487D5-DA1B-2AB4-2166-EAD26639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7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0B66D1-2550-D162-66BD-AF7E0EB10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277EB3-5CF7-A019-09DE-9B7B17580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5BB77-3DC5-EAD1-C8B4-045AE8E0F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EA754-7991-76C8-2422-6E4FC656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C87F5-835B-5934-5272-E2D405129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94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703002-DC92-7F29-E831-40DDF755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1BDB10-E938-6D47-E3C0-180500BDF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D4905-AAAA-667D-7117-B48D69460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F6E48-BE3B-48B0-B25D-BF50A1102D1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E4ED49-DBA9-4EB5-98C8-761BAB881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FA7DF-B43C-01F6-E530-8BD9CDF4F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ED63E-8117-45F0-9AFC-40F28CDFB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9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94D537C-8937-1180-804C-944F6EA93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23" y="0"/>
            <a:ext cx="16264649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8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301387-699A-B7F1-04C6-6D3244AFE389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研究背景与目标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50E119-68D8-69C1-B0E4-F5FC1D863858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长程任务中的记忆与协作问题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4C8779-6C83-1B4D-DDA3-6AC072F39983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02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D8B45D-33C2-B889-1225-BBC1148D33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25000" r="72000" b="55000"/>
          <a:stretch/>
        </p:blipFill>
        <p:spPr>
          <a:xfrm>
            <a:off x="1955800" y="2108200"/>
            <a:ext cx="2209800" cy="13091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F9BDA0E-C99A-C531-D77A-2DF4F1B74F10}"/>
              </a:ext>
            </a:extLst>
          </p:cNvPr>
          <p:cNvSpPr txBox="1"/>
          <p:nvPr/>
        </p:nvSpPr>
        <p:spPr>
          <a:xfrm>
            <a:off x="812800" y="3971917"/>
            <a:ext cx="45212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跨阶段信息变化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EDFC2C-FF31-4182-CB85-28C7BF68A062}"/>
              </a:ext>
            </a:extLst>
          </p:cNvPr>
          <p:cNvSpPr txBox="1"/>
          <p:nvPr/>
        </p:nvSpPr>
        <p:spPr>
          <a:xfrm>
            <a:off x="812800" y="4721217"/>
            <a:ext cx="45212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旧信息与新约束持续共存，
需要保留版本及来源。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2F2CFE4-25E7-9F59-7EC0-BBA345404D75}"/>
              </a:ext>
            </a:extLst>
          </p:cNvPr>
          <p:cNvCxnSpPr/>
          <p:nvPr/>
        </p:nvCxnSpPr>
        <p:spPr>
          <a:xfrm>
            <a:off x="812800" y="6129326"/>
            <a:ext cx="4521200" cy="0"/>
          </a:xfrm>
          <a:prstGeom prst="line">
            <a:avLst/>
          </a:prstGeom>
          <a:ln w="1905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7EBFACB-690F-4674-CAEE-C479AE45AE8C}"/>
              </a:ext>
            </a:extLst>
          </p:cNvPr>
          <p:cNvSpPr txBox="1"/>
          <p:nvPr/>
        </p:nvSpPr>
        <p:spPr>
          <a:xfrm>
            <a:off x="812800" y="6537317"/>
            <a:ext cx="4521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研究目标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9A6AA0D-0877-841C-C455-E9E90792E755}"/>
              </a:ext>
            </a:extLst>
          </p:cNvPr>
          <p:cNvSpPr txBox="1"/>
          <p:nvPr/>
        </p:nvSpPr>
        <p:spPr>
          <a:xfrm>
            <a:off x="812800" y="7134217"/>
            <a:ext cx="45212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维护当前有效记忆
与可追溯的更新历史。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2C156E-61A6-13E4-B778-6B52C0E5D0D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00" t="26000" r="8000" b="55000"/>
          <a:stretch/>
        </p:blipFill>
        <p:spPr>
          <a:xfrm>
            <a:off x="7010400" y="2208214"/>
            <a:ext cx="2209800" cy="102738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DC7F832-8662-305E-BF70-8D7168ABCE0B}"/>
              </a:ext>
            </a:extLst>
          </p:cNvPr>
          <p:cNvSpPr txBox="1"/>
          <p:nvPr/>
        </p:nvSpPr>
        <p:spPr>
          <a:xfrm>
            <a:off x="5867400" y="3971917"/>
            <a:ext cx="45212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持续执行状态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AFE388-0632-E6EF-4C55-39E406F4E5C7}"/>
              </a:ext>
            </a:extLst>
          </p:cNvPr>
          <p:cNvSpPr txBox="1"/>
          <p:nvPr/>
        </p:nvSpPr>
        <p:spPr>
          <a:xfrm>
            <a:off x="5867400" y="4721217"/>
            <a:ext cx="45212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历史交互包含分散进展，
需要独立记录任务状态。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E61704C-E4FD-86A3-7C34-C5125796091A}"/>
              </a:ext>
            </a:extLst>
          </p:cNvPr>
          <p:cNvCxnSpPr/>
          <p:nvPr/>
        </p:nvCxnSpPr>
        <p:spPr>
          <a:xfrm>
            <a:off x="5867400" y="6129326"/>
            <a:ext cx="4521200" cy="0"/>
          </a:xfrm>
          <a:prstGeom prst="line">
            <a:avLst/>
          </a:prstGeom>
          <a:ln w="1905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EA0AF0A-7D5D-7FF0-28B5-D424320F7805}"/>
              </a:ext>
            </a:extLst>
          </p:cNvPr>
          <p:cNvSpPr txBox="1"/>
          <p:nvPr/>
        </p:nvSpPr>
        <p:spPr>
          <a:xfrm>
            <a:off x="5867400" y="6537317"/>
            <a:ext cx="4521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研究目标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B6F1D36-F07E-404D-E8F7-25C7362C8FFE}"/>
              </a:ext>
            </a:extLst>
          </p:cNvPr>
          <p:cNvSpPr txBox="1"/>
          <p:nvPr/>
        </p:nvSpPr>
        <p:spPr>
          <a:xfrm>
            <a:off x="5867400" y="7134217"/>
            <a:ext cx="45212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维护目标、约束与进展，
按预算组织当前工作信息。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79CD6C4-0339-9B55-D51C-8EA64FFA651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00" t="50000" r="4000" b="27000"/>
          <a:stretch/>
        </p:blipFill>
        <p:spPr>
          <a:xfrm>
            <a:off x="12065000" y="2208214"/>
            <a:ext cx="2209800" cy="986361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F80AA337-EB1F-FD44-A242-E5F1B36B88B6}"/>
              </a:ext>
            </a:extLst>
          </p:cNvPr>
          <p:cNvSpPr txBox="1"/>
          <p:nvPr/>
        </p:nvSpPr>
        <p:spPr>
          <a:xfrm>
            <a:off x="10922000" y="3971917"/>
            <a:ext cx="45212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跨角色成果依赖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724B6D4-C09C-2BE4-44AC-E1E1F85E85CF}"/>
              </a:ext>
            </a:extLst>
          </p:cNvPr>
          <p:cNvSpPr txBox="1"/>
          <p:nvPr/>
        </p:nvSpPr>
        <p:spPr>
          <a:xfrm>
            <a:off x="10922000" y="4721217"/>
            <a:ext cx="45212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1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子任务成果存在前后依赖，
输入变化会影响后续交接。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B74805C-B753-FB44-3A70-D36E35ED1BBE}"/>
              </a:ext>
            </a:extLst>
          </p:cNvPr>
          <p:cNvCxnSpPr/>
          <p:nvPr/>
        </p:nvCxnSpPr>
        <p:spPr>
          <a:xfrm>
            <a:off x="10922000" y="6129326"/>
            <a:ext cx="4521200" cy="0"/>
          </a:xfrm>
          <a:prstGeom prst="line">
            <a:avLst/>
          </a:prstGeom>
          <a:ln w="1905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C177149-8699-BD36-1C87-4AF3D455F278}"/>
              </a:ext>
            </a:extLst>
          </p:cNvPr>
          <p:cNvSpPr txBox="1"/>
          <p:nvPr/>
        </p:nvSpPr>
        <p:spPr>
          <a:xfrm>
            <a:off x="10922000" y="6537317"/>
            <a:ext cx="4521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研究目标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C0E76EF-C186-C7D5-7469-A34975D238A5}"/>
              </a:ext>
            </a:extLst>
          </p:cNvPr>
          <p:cNvSpPr txBox="1"/>
          <p:nvPr/>
        </p:nvSpPr>
        <p:spPr>
          <a:xfrm>
            <a:off x="10922000" y="7134217"/>
            <a:ext cx="45212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核验成果与输入版本，
定位并恢复受影响的任务。</a:t>
            </a:r>
          </a:p>
        </p:txBody>
      </p:sp>
    </p:spTree>
    <p:extLst>
      <p:ext uri="{BB962C8B-B14F-4D97-AF65-F5344CB8AC3E}">
        <p14:creationId xmlns:p14="http://schemas.microsoft.com/office/powerpoint/2010/main" val="201052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70A825-B737-6704-F5C6-92996192D9A5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相关技术与研究思路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5CDB0B-9EB6-D375-128E-0960B04970C9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相关技术与方法选择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5CC606-14BE-7DAB-DB1D-8C9ECA52B570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03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164812-26C9-089B-939F-141F4AED72EC}"/>
              </a:ext>
            </a:extLst>
          </p:cNvPr>
          <p:cNvSpPr txBox="1"/>
          <p:nvPr/>
        </p:nvSpPr>
        <p:spPr>
          <a:xfrm>
            <a:off x="1485900" y="1854199"/>
            <a:ext cx="45085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 dirty="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技术方向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DD6A13-5CB5-580A-1433-A074A32F6467}"/>
              </a:ext>
            </a:extLst>
          </p:cNvPr>
          <p:cNvSpPr txBox="1"/>
          <p:nvPr/>
        </p:nvSpPr>
        <p:spPr>
          <a:xfrm>
            <a:off x="6011869" y="1854199"/>
            <a:ext cx="43561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处理问题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52F3CB-77FB-4822-FD30-F45F0940E773}"/>
              </a:ext>
            </a:extLst>
          </p:cNvPr>
          <p:cNvSpPr txBox="1"/>
          <p:nvPr/>
        </p:nvSpPr>
        <p:spPr>
          <a:xfrm>
            <a:off x="10795000" y="1825623"/>
            <a:ext cx="464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方法组成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B1920C3-A803-D61B-3B67-0D2A479B5C3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25000" r="72000" b="55000"/>
          <a:stretch/>
        </p:blipFill>
        <p:spPr>
          <a:xfrm>
            <a:off x="812800" y="2679700"/>
            <a:ext cx="990600" cy="58685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D57F19B-C92A-24CD-E7DB-4238E6528E95}"/>
              </a:ext>
            </a:extLst>
          </p:cNvPr>
          <p:cNvSpPr txBox="1"/>
          <p:nvPr/>
        </p:nvSpPr>
        <p:spPr>
          <a:xfrm>
            <a:off x="2159000" y="2705099"/>
            <a:ext cx="31623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长期记忆管理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C2D9F71-BEDB-1431-50F0-A8AAEF0F0839}"/>
              </a:ext>
            </a:extLst>
          </p:cNvPr>
          <p:cNvSpPr txBox="1"/>
          <p:nvPr/>
        </p:nvSpPr>
        <p:spPr>
          <a:xfrm>
            <a:off x="6011869" y="2705099"/>
            <a:ext cx="43561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形成跨交互的持久信息
并维护更新关系。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541C78-7095-F1D4-C9AE-75F789820C2B}"/>
              </a:ext>
            </a:extLst>
          </p:cNvPr>
          <p:cNvSpPr txBox="1"/>
          <p:nvPr/>
        </p:nvSpPr>
        <p:spPr>
          <a:xfrm>
            <a:off x="10795000" y="2676523"/>
            <a:ext cx="4648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语义事件划分、候选提炼
生命周期、版本与来源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6EC3434-8F5D-76DB-4677-E31C6D463D2E}"/>
              </a:ext>
            </a:extLst>
          </p:cNvPr>
          <p:cNvCxnSpPr/>
          <p:nvPr/>
        </p:nvCxnSpPr>
        <p:spPr>
          <a:xfrm>
            <a:off x="812800" y="3848100"/>
            <a:ext cx="14630400" cy="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5C33AD70-7055-39CF-FD48-4EA2193145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0" t="25000" r="38000" b="55000"/>
          <a:stretch/>
        </p:blipFill>
        <p:spPr>
          <a:xfrm>
            <a:off x="812800" y="4076700"/>
            <a:ext cx="990600" cy="46459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B795EC8-9947-411A-1BC2-117F655CE8D0}"/>
              </a:ext>
            </a:extLst>
          </p:cNvPr>
          <p:cNvSpPr txBox="1"/>
          <p:nvPr/>
        </p:nvSpPr>
        <p:spPr>
          <a:xfrm>
            <a:off x="2159000" y="4102099"/>
            <a:ext cx="31623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上下文感知检索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E74367A-9F82-3419-AC42-63390A384A16}"/>
              </a:ext>
            </a:extLst>
          </p:cNvPr>
          <p:cNvSpPr txBox="1"/>
          <p:nvPr/>
        </p:nvSpPr>
        <p:spPr>
          <a:xfrm>
            <a:off x="6011869" y="4102099"/>
            <a:ext cx="43561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从历史信息中选择
当前任务可用的证据。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AE55189-C5B4-AEFF-C692-C53A5AE2393C}"/>
              </a:ext>
            </a:extLst>
          </p:cNvPr>
          <p:cNvSpPr txBox="1"/>
          <p:nvPr/>
        </p:nvSpPr>
        <p:spPr>
          <a:xfrm>
            <a:off x="10795000" y="4073523"/>
            <a:ext cx="4648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BM25</a:t>
            </a: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、</a:t>
            </a:r>
            <a:r>
              <a:rPr lang="en-US" altLang="zh-CN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Dense </a:t>
            </a: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与 </a:t>
            </a:r>
            <a:r>
              <a:rPr lang="en-US" altLang="zh-CN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RRF
</a:t>
            </a: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适用性、冲突与充分性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44A41E0E-FD18-7E40-B870-8DA0716AC095}"/>
              </a:ext>
            </a:extLst>
          </p:cNvPr>
          <p:cNvCxnSpPr/>
          <p:nvPr/>
        </p:nvCxnSpPr>
        <p:spPr>
          <a:xfrm>
            <a:off x="812800" y="5245100"/>
            <a:ext cx="14630400" cy="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C672DC00-4CA8-DDAD-4CEC-8D9A0F0A2A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00" t="26000" r="8000" b="55000"/>
          <a:stretch/>
        </p:blipFill>
        <p:spPr>
          <a:xfrm>
            <a:off x="812800" y="5473700"/>
            <a:ext cx="990600" cy="460550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08AED167-180F-EFEE-D221-980CF55739E4}"/>
              </a:ext>
            </a:extLst>
          </p:cNvPr>
          <p:cNvSpPr txBox="1"/>
          <p:nvPr/>
        </p:nvSpPr>
        <p:spPr>
          <a:xfrm>
            <a:off x="2159000" y="5499099"/>
            <a:ext cx="31623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长程任务状态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8FE4475-CDB7-FBFA-854B-441C80815A25}"/>
              </a:ext>
            </a:extLst>
          </p:cNvPr>
          <p:cNvSpPr txBox="1"/>
          <p:nvPr/>
        </p:nvSpPr>
        <p:spPr>
          <a:xfrm>
            <a:off x="6011869" y="5499099"/>
            <a:ext cx="43561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持续记录执行进展
并重建工作上下文。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C5F3A23-73BE-B756-D28C-557A4BB021F6}"/>
              </a:ext>
            </a:extLst>
          </p:cNvPr>
          <p:cNvSpPr txBox="1"/>
          <p:nvPr/>
        </p:nvSpPr>
        <p:spPr>
          <a:xfrm>
            <a:off x="10795000" y="5470523"/>
            <a:ext cx="4648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结构化事件更新、任务台账
检查点与预算内工作集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2D65FAF-313E-FEC9-4004-E37EBBEC1F67}"/>
              </a:ext>
            </a:extLst>
          </p:cNvPr>
          <p:cNvCxnSpPr/>
          <p:nvPr/>
        </p:nvCxnSpPr>
        <p:spPr>
          <a:xfrm>
            <a:off x="812800" y="6642100"/>
            <a:ext cx="14630400" cy="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5AEE250A-EF0D-5E1D-CD02-3999FA4DBC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00" t="50000" r="4000" b="27000"/>
          <a:stretch/>
        </p:blipFill>
        <p:spPr>
          <a:xfrm>
            <a:off x="812800" y="6870700"/>
            <a:ext cx="990600" cy="442162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B80D03EC-D22C-531B-E710-9016F0CB3994}"/>
              </a:ext>
            </a:extLst>
          </p:cNvPr>
          <p:cNvSpPr txBox="1"/>
          <p:nvPr/>
        </p:nvSpPr>
        <p:spPr>
          <a:xfrm>
            <a:off x="2159000" y="6896099"/>
            <a:ext cx="31623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多智能体协作记忆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EDB61AD-CB33-3757-4A45-78A6272D66A3}"/>
              </a:ext>
            </a:extLst>
          </p:cNvPr>
          <p:cNvSpPr txBox="1"/>
          <p:nvPr/>
        </p:nvSpPr>
        <p:spPr>
          <a:xfrm>
            <a:off x="6011869" y="6896099"/>
            <a:ext cx="43561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维护跨角色成果依赖
与后续经验复用。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D0318BD-FA1B-126D-59C6-049FE0E1FBC4}"/>
              </a:ext>
            </a:extLst>
          </p:cNvPr>
          <p:cNvSpPr txBox="1"/>
          <p:nvPr/>
        </p:nvSpPr>
        <p:spPr>
          <a:xfrm>
            <a:off x="10795000" y="6867523"/>
            <a:ext cx="4648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分层取证、验证式交接
失效传播、恢复与经验管理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077C1F2-2753-D31C-583E-3ED893B44C10}"/>
              </a:ext>
            </a:extLst>
          </p:cNvPr>
          <p:cNvCxnSpPr/>
          <p:nvPr/>
        </p:nvCxnSpPr>
        <p:spPr>
          <a:xfrm>
            <a:off x="812800" y="8039100"/>
            <a:ext cx="14630400" cy="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86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EB87E1-C140-6653-F668-8C2E2E003AE9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系统核心机制与算法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299B19-305F-4C4C-5A79-252F38B9549A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长期记忆提炼与版本管理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6C4FFA-E317-BD36-BC45-5DD97D0694A8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04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39877D-F22D-8F28-AD0D-3FFA4EBD587B}"/>
              </a:ext>
            </a:extLst>
          </p:cNvPr>
          <p:cNvSpPr txBox="1"/>
          <p:nvPr/>
        </p:nvSpPr>
        <p:spPr>
          <a:xfrm>
            <a:off x="812800" y="1981199"/>
            <a:ext cx="298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真实用户事件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1498E8-B2FB-78B9-1311-950ADA1F2133}"/>
              </a:ext>
            </a:extLst>
          </p:cNvPr>
          <p:cNvSpPr txBox="1"/>
          <p:nvPr/>
        </p:nvSpPr>
        <p:spPr>
          <a:xfrm>
            <a:off x="812800" y="2628899"/>
            <a:ext cx="29845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Agent 选择写入记忆
原文与来源进入处理链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900430-0195-2400-233F-D0D8F64C6C39}"/>
              </a:ext>
            </a:extLst>
          </p:cNvPr>
          <p:cNvSpPr txBox="1"/>
          <p:nvPr/>
        </p:nvSpPr>
        <p:spPr>
          <a:xfrm>
            <a:off x="4305300" y="1981199"/>
            <a:ext cx="298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语义事件划分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B1E833-7D2A-76D9-F068-41843F7EF8DD}"/>
              </a:ext>
            </a:extLst>
          </p:cNvPr>
          <p:cNvSpPr txBox="1"/>
          <p:nvPr/>
        </p:nvSpPr>
        <p:spPr>
          <a:xfrm>
            <a:off x="4305300" y="2628899"/>
            <a:ext cx="29845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划分语义片段与来源索引
判定信息的持久性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043B60-C449-FAD8-16A9-7D3448DC5026}"/>
              </a:ext>
            </a:extLst>
          </p:cNvPr>
          <p:cNvSpPr txBox="1"/>
          <p:nvPr/>
        </p:nvSpPr>
        <p:spPr>
          <a:xfrm>
            <a:off x="7797800" y="1981199"/>
            <a:ext cx="298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持久记忆候选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E596FC-4D45-A53F-C9CA-547284076487}"/>
              </a:ext>
            </a:extLst>
          </p:cNvPr>
          <p:cNvSpPr txBox="1"/>
          <p:nvPr/>
        </p:nvSpPr>
        <p:spPr>
          <a:xfrm>
            <a:off x="7797800" y="2628899"/>
            <a:ext cx="2984500" cy="1028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提炼具有持久价值的内容
关联当前有效记忆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8934A93-2BA5-2C49-8491-554551F112F5}"/>
              </a:ext>
            </a:extLst>
          </p:cNvPr>
          <p:cNvCxnSpPr/>
          <p:nvPr/>
        </p:nvCxnSpPr>
        <p:spPr>
          <a:xfrm>
            <a:off x="3810000" y="2209800"/>
            <a:ext cx="3429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6796384-A710-D366-ED38-037884A8E319}"/>
              </a:ext>
            </a:extLst>
          </p:cNvPr>
          <p:cNvCxnSpPr/>
          <p:nvPr/>
        </p:nvCxnSpPr>
        <p:spPr>
          <a:xfrm>
            <a:off x="7302500" y="2209800"/>
            <a:ext cx="3429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184DB4D-1E08-0620-F6D4-64250545B813}"/>
              </a:ext>
            </a:extLst>
          </p:cNvPr>
          <p:cNvCxnSpPr/>
          <p:nvPr/>
        </p:nvCxnSpPr>
        <p:spPr>
          <a:xfrm>
            <a:off x="9194800" y="3492497"/>
            <a:ext cx="0" cy="3810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D1FB2E2-9D23-03EB-57B4-5DBD6431A476}"/>
              </a:ext>
            </a:extLst>
          </p:cNvPr>
          <p:cNvSpPr txBox="1"/>
          <p:nvPr/>
        </p:nvSpPr>
        <p:spPr>
          <a:xfrm>
            <a:off x="1847851" y="3910013"/>
            <a:ext cx="4381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显式记忆请求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47D1795-090A-3497-AF4B-59D28B3FE624}"/>
              </a:ext>
            </a:extLst>
          </p:cNvPr>
          <p:cNvSpPr txBox="1"/>
          <p:nvPr/>
        </p:nvSpPr>
        <p:spPr>
          <a:xfrm>
            <a:off x="1847851" y="4564064"/>
            <a:ext cx="4381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按明确指令构造提案
核对当前有效版本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525BC76-A678-02FF-E29D-B6D962F021E4}"/>
              </a:ext>
            </a:extLst>
          </p:cNvPr>
          <p:cNvCxnSpPr>
            <a:cxnSpLocks/>
          </p:cNvCxnSpPr>
          <p:nvPr/>
        </p:nvCxnSpPr>
        <p:spPr>
          <a:xfrm>
            <a:off x="5857873" y="4162421"/>
            <a:ext cx="1733551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846B01B2-36E0-89F0-AE30-B9719E14FC7A}"/>
              </a:ext>
            </a:extLst>
          </p:cNvPr>
          <p:cNvSpPr txBox="1"/>
          <p:nvPr/>
        </p:nvSpPr>
        <p:spPr>
          <a:xfrm>
            <a:off x="7797800" y="3897306"/>
            <a:ext cx="298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生命周期提案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7559815-0E48-BFFB-53EE-9C2234B16C6F}"/>
              </a:ext>
            </a:extLst>
          </p:cNvPr>
          <p:cNvSpPr txBox="1"/>
          <p:nvPr/>
        </p:nvSpPr>
        <p:spPr>
          <a:xfrm>
            <a:off x="7797800" y="4494206"/>
            <a:ext cx="2984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确定目标记忆与操作
附带候选内容及来源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C1EA6BA-066D-47D0-BBCA-0C830424A208}"/>
              </a:ext>
            </a:extLst>
          </p:cNvPr>
          <p:cNvSpPr txBox="1"/>
          <p:nvPr/>
        </p:nvSpPr>
        <p:spPr>
          <a:xfrm>
            <a:off x="812800" y="5943599"/>
            <a:ext cx="5842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主要生命周期操作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7A12DE0-6674-B003-E7B1-957D166F03FC}"/>
              </a:ext>
            </a:extLst>
          </p:cNvPr>
          <p:cNvSpPr txBox="1"/>
          <p:nvPr/>
        </p:nvSpPr>
        <p:spPr>
          <a:xfrm>
            <a:off x="812800" y="6476999"/>
            <a:ext cx="2197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ADD </a:t>
            </a:r>
            <a:r>
              <a:rPr lang="zh-CN" altLang="en-US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新增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21DD663-9BAD-5A64-7E90-6DDD3663A0AA}"/>
              </a:ext>
            </a:extLst>
          </p:cNvPr>
          <p:cNvSpPr txBox="1"/>
          <p:nvPr/>
        </p:nvSpPr>
        <p:spPr>
          <a:xfrm>
            <a:off x="3060700" y="6476999"/>
            <a:ext cx="4279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新建身份与首个版本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14BF83-2210-4560-EDD6-272E2DBCEED7}"/>
              </a:ext>
            </a:extLst>
          </p:cNvPr>
          <p:cNvSpPr txBox="1"/>
          <p:nvPr/>
        </p:nvSpPr>
        <p:spPr>
          <a:xfrm>
            <a:off x="812800" y="6908799"/>
            <a:ext cx="2197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UPDATE </a:t>
            </a:r>
            <a:r>
              <a:rPr lang="zh-CN" altLang="en-US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更新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3973CFF-806F-2767-16C3-301B47AFC251}"/>
              </a:ext>
            </a:extLst>
          </p:cNvPr>
          <p:cNvSpPr txBox="1"/>
          <p:nvPr/>
        </p:nvSpPr>
        <p:spPr>
          <a:xfrm>
            <a:off x="3060700" y="6908799"/>
            <a:ext cx="4279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同一身份生成新版，旧版被取代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689293F-FCAF-8618-C9FE-AD4E1A513DF8}"/>
              </a:ext>
            </a:extLst>
          </p:cNvPr>
          <p:cNvSpPr txBox="1"/>
          <p:nvPr/>
        </p:nvSpPr>
        <p:spPr>
          <a:xfrm>
            <a:off x="812800" y="7340599"/>
            <a:ext cx="2197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CORRECT </a:t>
            </a:r>
            <a:r>
              <a:rPr lang="zh-CN" altLang="en-US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更正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8988E77-CEBA-060D-7A61-B7C8FEE2FC4E}"/>
              </a:ext>
            </a:extLst>
          </p:cNvPr>
          <p:cNvSpPr txBox="1"/>
          <p:nvPr/>
        </p:nvSpPr>
        <p:spPr>
          <a:xfrm>
            <a:off x="3060700" y="7340599"/>
            <a:ext cx="4279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同一身份生成新版，旧版标记被纠正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7A7B610-537E-378D-68B2-16E9FAB80D50}"/>
              </a:ext>
            </a:extLst>
          </p:cNvPr>
          <p:cNvSpPr txBox="1"/>
          <p:nvPr/>
        </p:nvSpPr>
        <p:spPr>
          <a:xfrm>
            <a:off x="812800" y="7772399"/>
            <a:ext cx="21971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NOOP </a:t>
            </a:r>
            <a:r>
              <a:rPr lang="zh-CN" altLang="en-US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不变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79A7049-8EC0-7753-A9C4-65C68CAB6970}"/>
              </a:ext>
            </a:extLst>
          </p:cNvPr>
          <p:cNvSpPr txBox="1"/>
          <p:nvPr/>
        </p:nvSpPr>
        <p:spPr>
          <a:xfrm>
            <a:off x="3060700" y="7772399"/>
            <a:ext cx="4279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保持内容版本，确认事件处理状态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1F07C860-19F2-5763-0E45-39A8D23AEED3}"/>
              </a:ext>
            </a:extLst>
          </p:cNvPr>
          <p:cNvCxnSpPr/>
          <p:nvPr/>
        </p:nvCxnSpPr>
        <p:spPr>
          <a:xfrm>
            <a:off x="9194800" y="5422900"/>
            <a:ext cx="0" cy="3048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7A5626ED-6846-43A4-106C-7AA1B80D198A}"/>
              </a:ext>
            </a:extLst>
          </p:cNvPr>
          <p:cNvSpPr txBox="1"/>
          <p:nvPr/>
        </p:nvSpPr>
        <p:spPr>
          <a:xfrm>
            <a:off x="7797800" y="5710234"/>
            <a:ext cx="29845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确定性校验与提交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A16D0F1-5BDF-C182-2B80-E8DB9EAD257E}"/>
              </a:ext>
            </a:extLst>
          </p:cNvPr>
          <p:cNvSpPr txBox="1"/>
          <p:nvPr/>
        </p:nvSpPr>
        <p:spPr>
          <a:xfrm>
            <a:off x="7797800" y="6269034"/>
            <a:ext cx="2984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核对来源、身份与版本
SQLite 原子写入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4869921-691B-1CB7-31A6-5507E9923365}"/>
              </a:ext>
            </a:extLst>
          </p:cNvPr>
          <p:cNvCxnSpPr/>
          <p:nvPr/>
        </p:nvCxnSpPr>
        <p:spPr>
          <a:xfrm>
            <a:off x="9194800" y="7205664"/>
            <a:ext cx="0" cy="2667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0D01C29-82A9-AA36-54C7-77EC2199F5AD}"/>
              </a:ext>
            </a:extLst>
          </p:cNvPr>
          <p:cNvSpPr txBox="1"/>
          <p:nvPr/>
        </p:nvSpPr>
        <p:spPr>
          <a:xfrm>
            <a:off x="7588505" y="7548880"/>
            <a:ext cx="3364992" cy="7315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记忆记录
身份 · 当前版本 · 历史来源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B6711AC1-B63D-BBB2-3BA7-CAE47CB7773F}"/>
              </a:ext>
            </a:extLst>
          </p:cNvPr>
          <p:cNvCxnSpPr/>
          <p:nvPr/>
        </p:nvCxnSpPr>
        <p:spPr>
          <a:xfrm>
            <a:off x="11417300" y="1905000"/>
            <a:ext cx="0" cy="637540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A02225E-481B-72D6-53E6-2B92DA501B51}"/>
              </a:ext>
            </a:extLst>
          </p:cNvPr>
          <p:cNvSpPr txBox="1"/>
          <p:nvPr/>
        </p:nvSpPr>
        <p:spPr>
          <a:xfrm>
            <a:off x="11912600" y="2066930"/>
            <a:ext cx="35306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200" b="1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预测残差分析（NEMORI）
独立信息增量接口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A3D66E3-0F3C-D86E-4AF7-356CF4E02F47}"/>
              </a:ext>
            </a:extLst>
          </p:cNvPr>
          <p:cNvSpPr txBox="1"/>
          <p:nvPr/>
        </p:nvSpPr>
        <p:spPr>
          <a:xfrm>
            <a:off x="11912600" y="3213102"/>
            <a:ext cx="3530600" cy="1003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已有记忆、事件线索
和实际事件叙述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6787766-3FFB-C447-D753-6876603784EC}"/>
              </a:ext>
            </a:extLst>
          </p:cNvPr>
          <p:cNvCxnSpPr/>
          <p:nvPr/>
        </p:nvCxnSpPr>
        <p:spPr>
          <a:xfrm>
            <a:off x="13563600" y="4221164"/>
            <a:ext cx="0" cy="3810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3706D01-3E3C-8A92-D9C6-020E33C1984C}"/>
              </a:ext>
            </a:extLst>
          </p:cNvPr>
          <p:cNvSpPr txBox="1"/>
          <p:nvPr/>
        </p:nvSpPr>
        <p:spPr>
          <a:xfrm>
            <a:off x="11912600" y="4945066"/>
            <a:ext cx="3530600" cy="1003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模型预测叙述
与实际内容比较
抽取尚未覆盖的信息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738E4F8-6EA7-EBE4-132C-2518D5BF0E3C}"/>
              </a:ext>
            </a:extLst>
          </p:cNvPr>
          <p:cNvCxnSpPr/>
          <p:nvPr/>
        </p:nvCxnSpPr>
        <p:spPr>
          <a:xfrm>
            <a:off x="13563600" y="6529397"/>
            <a:ext cx="0" cy="3683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3B9BF580-9AD8-7BDD-434C-33391E1DD85A}"/>
              </a:ext>
            </a:extLst>
          </p:cNvPr>
          <p:cNvSpPr txBox="1"/>
          <p:nvPr/>
        </p:nvSpPr>
        <p:spPr>
          <a:xfrm>
            <a:off x="11912600" y="7151696"/>
            <a:ext cx="3530600" cy="96360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新颖性判断
信息残差 · 新颖性评分</a:t>
            </a:r>
          </a:p>
        </p:txBody>
      </p:sp>
    </p:spTree>
    <p:extLst>
      <p:ext uri="{BB962C8B-B14F-4D97-AF65-F5344CB8AC3E}">
        <p14:creationId xmlns:p14="http://schemas.microsoft.com/office/powerpoint/2010/main" val="166989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35B2CDB-15FB-E7D4-E3D9-C5F992096F7B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系统核心机制与算法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73A490-6443-6ED2-418F-11933EE77316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上下文感知检索与证据生成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273317-9791-EB28-0029-A14FC04112DF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05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DDDCB9-B5DC-B893-204C-9FD49466D1DF}"/>
              </a:ext>
            </a:extLst>
          </p:cNvPr>
          <p:cNvSpPr txBox="1"/>
          <p:nvPr/>
        </p:nvSpPr>
        <p:spPr>
          <a:xfrm>
            <a:off x="812800" y="18922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① 候选召回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F58BEC-2488-B16C-F0A0-BE25B3D6E792}"/>
              </a:ext>
            </a:extLst>
          </p:cNvPr>
          <p:cNvSpPr txBox="1"/>
          <p:nvPr/>
        </p:nvSpPr>
        <p:spPr>
          <a:xfrm>
            <a:off x="5867400" y="18922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② 适用性判断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25470E-BAA4-5625-5B47-A603FCADE875}"/>
              </a:ext>
            </a:extLst>
          </p:cNvPr>
          <p:cNvSpPr txBox="1"/>
          <p:nvPr/>
        </p:nvSpPr>
        <p:spPr>
          <a:xfrm>
            <a:off x="10922000" y="18922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③ 证据组织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4614F44-E79F-5052-4E68-04F93F0EA0C2}"/>
              </a:ext>
            </a:extLst>
          </p:cNvPr>
          <p:cNvCxnSpPr/>
          <p:nvPr/>
        </p:nvCxnSpPr>
        <p:spPr>
          <a:xfrm>
            <a:off x="5588000" y="1905000"/>
            <a:ext cx="0" cy="637540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8306A1-574C-5791-41BF-7FF072897938}"/>
              </a:ext>
            </a:extLst>
          </p:cNvPr>
          <p:cNvCxnSpPr/>
          <p:nvPr/>
        </p:nvCxnSpPr>
        <p:spPr>
          <a:xfrm>
            <a:off x="10642600" y="1905000"/>
            <a:ext cx="0" cy="637540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89C8BF9-6B6E-3F71-3A93-E0A6ED42239B}"/>
              </a:ext>
            </a:extLst>
          </p:cNvPr>
          <p:cNvSpPr txBox="1"/>
          <p:nvPr/>
        </p:nvSpPr>
        <p:spPr>
          <a:xfrm>
            <a:off x="812800" y="2573335"/>
            <a:ext cx="45212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输入：查询、任务情境
当前有效记忆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892EDD0-8637-B628-8395-0A764101C40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0" t="25000" r="38000" b="55000"/>
          <a:stretch/>
        </p:blipFill>
        <p:spPr>
          <a:xfrm>
            <a:off x="2057400" y="3670300"/>
            <a:ext cx="1905000" cy="89344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A1424F4-9669-9FB7-E23D-D029B3FC6FAB}"/>
              </a:ext>
            </a:extLst>
          </p:cNvPr>
          <p:cNvSpPr txBox="1"/>
          <p:nvPr/>
        </p:nvSpPr>
        <p:spPr>
          <a:xfrm>
            <a:off x="812800" y="5232399"/>
            <a:ext cx="4521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BM25</a:t>
            </a:r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：按词项相关性排序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043D8B-6125-E71B-9336-25B48CDB8FD1}"/>
              </a:ext>
            </a:extLst>
          </p:cNvPr>
          <p:cNvSpPr txBox="1"/>
          <p:nvPr/>
        </p:nvSpPr>
        <p:spPr>
          <a:xfrm>
            <a:off x="812800" y="5608634"/>
            <a:ext cx="45212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可选 </a:t>
            </a:r>
            <a:r>
              <a:rPr lang="en-US" altLang="zh-CN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Dense</a:t>
            </a: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：语义向量相似度
可选 </a:t>
            </a:r>
            <a:r>
              <a:rPr lang="en-US" altLang="zh-CN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RRF</a:t>
            </a: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：融合多路候选排名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3C89309-3A8C-484B-DE5D-2BD2D818D830}"/>
              </a:ext>
            </a:extLst>
          </p:cNvPr>
          <p:cNvSpPr txBox="1"/>
          <p:nvPr/>
        </p:nvSpPr>
        <p:spPr>
          <a:xfrm>
            <a:off x="812800" y="6718299"/>
            <a:ext cx="45212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RRF(d) = </a:t>
            </a:r>
            <a:r>
              <a:rPr lang="el-GR" altLang="zh-CN" sz="23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Σ</a:t>
            </a:r>
            <a:r>
              <a:rPr lang="en-US" altLang="zh-CN" sz="23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ᵢ 1 / (60 + rankᵢ(d))</a:t>
            </a:r>
            <a:endParaRPr lang="zh-CN" altLang="en-US" sz="2300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88FCE7A-E9A5-B82E-7CBD-B83623B88F04}"/>
              </a:ext>
            </a:extLst>
          </p:cNvPr>
          <p:cNvSpPr txBox="1"/>
          <p:nvPr/>
        </p:nvSpPr>
        <p:spPr>
          <a:xfrm>
            <a:off x="812800" y="78993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输出：带排名与来源的候选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C15BDC0-7311-93C3-26B4-F961FBF29FE3}"/>
              </a:ext>
            </a:extLst>
          </p:cNvPr>
          <p:cNvCxnSpPr/>
          <p:nvPr/>
        </p:nvCxnSpPr>
        <p:spPr>
          <a:xfrm>
            <a:off x="3048000" y="7305673"/>
            <a:ext cx="0" cy="2540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95EC145-A2F2-5C27-39F9-2D5E2C73C066}"/>
              </a:ext>
            </a:extLst>
          </p:cNvPr>
          <p:cNvSpPr txBox="1"/>
          <p:nvPr/>
        </p:nvSpPr>
        <p:spPr>
          <a:xfrm>
            <a:off x="5867400" y="2573335"/>
            <a:ext cx="45212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输入：当前情境
与记忆适用范围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1F70F89-A5C9-6CB2-205B-9590BC5A8BF0}"/>
              </a:ext>
            </a:extLst>
          </p:cNvPr>
          <p:cNvSpPr txBox="1"/>
          <p:nvPr/>
        </p:nvSpPr>
        <p:spPr>
          <a:xfrm>
            <a:off x="5867400" y="38099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模型解释 → 结构化比较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B4AF344-D976-3C71-A2DD-01DE79687843}"/>
              </a:ext>
            </a:extLst>
          </p:cNvPr>
          <p:cNvSpPr txBox="1"/>
          <p:nvPr/>
        </p:nvSpPr>
        <p:spPr>
          <a:xfrm>
            <a:off x="5867400" y="4325935"/>
            <a:ext cx="45212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人物、时间、任务、场景
与关键约束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3E5237E-58EE-B987-C11A-E549357AAF0F}"/>
              </a:ext>
            </a:extLst>
          </p:cNvPr>
          <p:cNvSpPr txBox="1"/>
          <p:nvPr/>
        </p:nvSpPr>
        <p:spPr>
          <a:xfrm>
            <a:off x="5867400" y="5435599"/>
            <a:ext cx="160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适用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631ADF2-2AC3-B0E4-BE27-1927C276C8FD}"/>
              </a:ext>
            </a:extLst>
          </p:cNvPr>
          <p:cNvSpPr txBox="1"/>
          <p:nvPr/>
        </p:nvSpPr>
        <p:spPr>
          <a:xfrm>
            <a:off x="7658100" y="5435599"/>
            <a:ext cx="2730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保留候选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C18180A-E91C-F9E9-8726-6C82C1FCCDEC}"/>
              </a:ext>
            </a:extLst>
          </p:cNvPr>
          <p:cNvSpPr txBox="1"/>
          <p:nvPr/>
        </p:nvSpPr>
        <p:spPr>
          <a:xfrm>
            <a:off x="5867400" y="5968999"/>
            <a:ext cx="160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不适用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533C46E-78F4-FC46-1C2C-1AB8411D6FE5}"/>
              </a:ext>
            </a:extLst>
          </p:cNvPr>
          <p:cNvSpPr txBox="1"/>
          <p:nvPr/>
        </p:nvSpPr>
        <p:spPr>
          <a:xfrm>
            <a:off x="7658100" y="5968999"/>
            <a:ext cx="2730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排除候选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83A2920-93B1-4823-2CB0-529F33F480A5}"/>
              </a:ext>
            </a:extLst>
          </p:cNvPr>
          <p:cNvSpPr txBox="1"/>
          <p:nvPr/>
        </p:nvSpPr>
        <p:spPr>
          <a:xfrm>
            <a:off x="5867400" y="6502399"/>
            <a:ext cx="160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信息不足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F71DB61-E97B-E5E9-1490-6A37A96CB119}"/>
              </a:ext>
            </a:extLst>
          </p:cNvPr>
          <p:cNvSpPr txBox="1"/>
          <p:nvPr/>
        </p:nvSpPr>
        <p:spPr>
          <a:xfrm>
            <a:off x="7658100" y="6502399"/>
            <a:ext cx="2730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保留不确定标记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A81924-041E-DA12-0359-D07BF2A9ACD7}"/>
              </a:ext>
            </a:extLst>
          </p:cNvPr>
          <p:cNvSpPr txBox="1"/>
          <p:nvPr/>
        </p:nvSpPr>
        <p:spPr>
          <a:xfrm>
            <a:off x="5867400" y="7035799"/>
            <a:ext cx="1600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存在歧义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2F5EFE1-892F-2AC3-F347-63209A89CB41}"/>
              </a:ext>
            </a:extLst>
          </p:cNvPr>
          <p:cNvSpPr txBox="1"/>
          <p:nvPr/>
        </p:nvSpPr>
        <p:spPr>
          <a:xfrm>
            <a:off x="7658100" y="7035799"/>
            <a:ext cx="2730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保留歧义标记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E1E569E-A7DC-DA1D-77F0-5CC9E266E49D}"/>
              </a:ext>
            </a:extLst>
          </p:cNvPr>
          <p:cNvSpPr txBox="1"/>
          <p:nvPr/>
        </p:nvSpPr>
        <p:spPr>
          <a:xfrm>
            <a:off x="5867400" y="789939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输出：适用性状态及其依据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A66D30F-B93B-1850-31BA-6682FAA6DDA1}"/>
              </a:ext>
            </a:extLst>
          </p:cNvPr>
          <p:cNvCxnSpPr/>
          <p:nvPr/>
        </p:nvCxnSpPr>
        <p:spPr>
          <a:xfrm>
            <a:off x="8128000" y="7505700"/>
            <a:ext cx="0" cy="2540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546F121-C310-8592-B3E9-79A2AD4BE0EF}"/>
              </a:ext>
            </a:extLst>
          </p:cNvPr>
          <p:cNvSpPr txBox="1"/>
          <p:nvPr/>
        </p:nvSpPr>
        <p:spPr>
          <a:xfrm>
            <a:off x="10922000" y="2616199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冲突检测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CC95746-4B94-A0B5-64FE-C9B5A7680D96}"/>
              </a:ext>
            </a:extLst>
          </p:cNvPr>
          <p:cNvSpPr txBox="1"/>
          <p:nvPr/>
        </p:nvSpPr>
        <p:spPr>
          <a:xfrm>
            <a:off x="10922000" y="3187699"/>
            <a:ext cx="45212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结构化范围中相反的限制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3F4214E9-0DBC-E06B-0EE2-6F1C2E80F120}"/>
              </a:ext>
            </a:extLst>
          </p:cNvPr>
          <p:cNvCxnSpPr/>
          <p:nvPr/>
        </p:nvCxnSpPr>
        <p:spPr>
          <a:xfrm>
            <a:off x="13157200" y="3759199"/>
            <a:ext cx="0" cy="2286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91478853-FBB9-8236-2020-C987F0186137}"/>
              </a:ext>
            </a:extLst>
          </p:cNvPr>
          <p:cNvSpPr txBox="1"/>
          <p:nvPr/>
        </p:nvSpPr>
        <p:spPr>
          <a:xfrm>
            <a:off x="10922000" y="4216399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去重与预算选择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9438F44-7C4B-AA45-6AA6-14A6EFE1F0E4}"/>
              </a:ext>
            </a:extLst>
          </p:cNvPr>
          <p:cNvSpPr txBox="1"/>
          <p:nvPr/>
        </p:nvSpPr>
        <p:spPr>
          <a:xfrm>
            <a:off x="10922000" y="4787899"/>
            <a:ext cx="45212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条目数、单项及总篇幅约束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1DB5C76-EF2C-AB33-2FFD-7CB28FDB2C72}"/>
              </a:ext>
            </a:extLst>
          </p:cNvPr>
          <p:cNvCxnSpPr/>
          <p:nvPr/>
        </p:nvCxnSpPr>
        <p:spPr>
          <a:xfrm>
            <a:off x="13157200" y="5330823"/>
            <a:ext cx="0" cy="2286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591E2120-46A7-2536-F54B-253BE4B28E25}"/>
              </a:ext>
            </a:extLst>
          </p:cNvPr>
          <p:cNvSpPr txBox="1"/>
          <p:nvPr/>
        </p:nvSpPr>
        <p:spPr>
          <a:xfrm>
            <a:off x="10922000" y="5816599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证据充分性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703D5DF-1959-66B1-B831-FB261A0FC75D}"/>
              </a:ext>
            </a:extLst>
          </p:cNvPr>
          <p:cNvSpPr txBox="1"/>
          <p:nvPr/>
        </p:nvSpPr>
        <p:spPr>
          <a:xfrm>
            <a:off x="10922000" y="6388099"/>
            <a:ext cx="45212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充分 / 部分充分 / 不足</a:t>
            </a:r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8D533A1-4536-A086-7844-D43B4A171654}"/>
              </a:ext>
            </a:extLst>
          </p:cNvPr>
          <p:cNvCxnSpPr/>
          <p:nvPr/>
        </p:nvCxnSpPr>
        <p:spPr>
          <a:xfrm>
            <a:off x="13157200" y="6972299"/>
            <a:ext cx="0" cy="2667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47213CEB-967B-B345-8891-350723F0DAB9}"/>
              </a:ext>
            </a:extLst>
          </p:cNvPr>
          <p:cNvSpPr txBox="1"/>
          <p:nvPr/>
        </p:nvSpPr>
        <p:spPr>
          <a:xfrm>
            <a:off x="10922000" y="7462835"/>
            <a:ext cx="45212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800" b="1" dirty="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EvidenceBundle 证据包
来源、版本与适用性</a:t>
            </a:r>
          </a:p>
        </p:txBody>
      </p:sp>
    </p:spTree>
    <p:extLst>
      <p:ext uri="{BB962C8B-B14F-4D97-AF65-F5344CB8AC3E}">
        <p14:creationId xmlns:p14="http://schemas.microsoft.com/office/powerpoint/2010/main" val="2351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2D849D-21A1-99E3-1001-8C4FB06C431E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系统核心机制与算法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615A9B-C3BF-135D-4788-73392A01C816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任务状态更新与上下文重建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6B3B67-3E6A-B84E-3E86-67C230448B7D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06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56C9DC-DDCA-3C41-75CE-1F297B94387D}"/>
              </a:ext>
            </a:extLst>
          </p:cNvPr>
          <p:cNvSpPr txBox="1"/>
          <p:nvPr/>
        </p:nvSpPr>
        <p:spPr>
          <a:xfrm>
            <a:off x="812800" y="17383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任务事件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F8A771-EB99-2065-BB4D-246C6E891C54}"/>
              </a:ext>
            </a:extLst>
          </p:cNvPr>
          <p:cNvSpPr txBox="1"/>
          <p:nvPr/>
        </p:nvSpPr>
        <p:spPr>
          <a:xfrm>
            <a:off x="812800" y="236060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TaskEvent</a:t>
            </a:r>
            <a:endParaRPr lang="zh-CN" altLang="en-US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A6706-EA3F-71A2-3AD1-AA4940453FEF}"/>
              </a:ext>
            </a:extLst>
          </p:cNvPr>
          <p:cNvSpPr txBox="1"/>
          <p:nvPr/>
        </p:nvSpPr>
        <p:spPr>
          <a:xfrm>
            <a:off x="812800" y="2903533"/>
            <a:ext cx="4521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用户、工具与执行事件
携带身份及来源引用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D058B-7350-6EC7-A24A-34F030CA6B70}"/>
              </a:ext>
            </a:extLst>
          </p:cNvPr>
          <p:cNvSpPr txBox="1"/>
          <p:nvPr/>
        </p:nvSpPr>
        <p:spPr>
          <a:xfrm>
            <a:off x="5867400" y="17383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任务状态更新提案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A1D908-A5DD-50E6-A1C7-F1B7B5D7D25B}"/>
              </a:ext>
            </a:extLst>
          </p:cNvPr>
          <p:cNvSpPr txBox="1"/>
          <p:nvPr/>
        </p:nvSpPr>
        <p:spPr>
          <a:xfrm>
            <a:off x="5867400" y="2360609"/>
            <a:ext cx="452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TaskStateProposal</a:t>
            </a:r>
            <a:endParaRPr lang="zh-CN" altLang="en-US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2C86C6-69A6-FD07-3FCA-3691B507B470}"/>
              </a:ext>
            </a:extLst>
          </p:cNvPr>
          <p:cNvSpPr txBox="1"/>
          <p:nvPr/>
        </p:nvSpPr>
        <p:spPr>
          <a:xfrm>
            <a:off x="5867400" y="2903533"/>
            <a:ext cx="4521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提出条目更新与支持片段
保留任务归属和操作类型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5344B8-07EA-CB26-97FA-D6BDB81C9B18}"/>
              </a:ext>
            </a:extLst>
          </p:cNvPr>
          <p:cNvSpPr txBox="1"/>
          <p:nvPr/>
        </p:nvSpPr>
        <p:spPr>
          <a:xfrm>
            <a:off x="10922000" y="17383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来源与合法性校验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FC6AF0-B83A-8D53-DBAD-6A9A58F3760C}"/>
              </a:ext>
            </a:extLst>
          </p:cNvPr>
          <p:cNvSpPr txBox="1"/>
          <p:nvPr/>
        </p:nvSpPr>
        <p:spPr>
          <a:xfrm>
            <a:off x="10922000" y="2903533"/>
            <a:ext cx="4521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事件身份、原文支持片段
来源权威、合法状态操作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A0CDE41-96E1-7CCE-BC91-46628A379EE2}"/>
              </a:ext>
            </a:extLst>
          </p:cNvPr>
          <p:cNvCxnSpPr/>
          <p:nvPr/>
        </p:nvCxnSpPr>
        <p:spPr>
          <a:xfrm>
            <a:off x="4851400" y="1966910"/>
            <a:ext cx="8382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DE3570F-3D98-5445-87DD-1C61BB9644E3}"/>
              </a:ext>
            </a:extLst>
          </p:cNvPr>
          <p:cNvCxnSpPr/>
          <p:nvPr/>
        </p:nvCxnSpPr>
        <p:spPr>
          <a:xfrm>
            <a:off x="9906000" y="1966910"/>
            <a:ext cx="8382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1761A9B-755F-C1EC-E59E-FB147834BDCB}"/>
              </a:ext>
            </a:extLst>
          </p:cNvPr>
          <p:cNvCxnSpPr/>
          <p:nvPr/>
        </p:nvCxnSpPr>
        <p:spPr>
          <a:xfrm>
            <a:off x="13157200" y="3871910"/>
            <a:ext cx="0" cy="469900"/>
          </a:xfrm>
          <a:prstGeom prst="line">
            <a:avLst/>
          </a:prstGeom>
          <a:ln w="15240">
            <a:solidFill>
              <a:srgbClr val="477C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91A4EF5-6DC4-D5B3-8913-D5745AE1FFD4}"/>
              </a:ext>
            </a:extLst>
          </p:cNvPr>
          <p:cNvCxnSpPr/>
          <p:nvPr/>
        </p:nvCxnSpPr>
        <p:spPr>
          <a:xfrm flipH="1">
            <a:off x="3048000" y="4341810"/>
            <a:ext cx="10109200" cy="0"/>
          </a:xfrm>
          <a:prstGeom prst="line">
            <a:avLst/>
          </a:prstGeom>
          <a:ln w="15240">
            <a:solidFill>
              <a:srgbClr val="477C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9D59FB-B909-ADFF-342E-03766141931D}"/>
              </a:ext>
            </a:extLst>
          </p:cNvPr>
          <p:cNvCxnSpPr/>
          <p:nvPr/>
        </p:nvCxnSpPr>
        <p:spPr>
          <a:xfrm>
            <a:off x="3048000" y="4341810"/>
            <a:ext cx="0" cy="45720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7EAE4F5-F799-19AF-335B-488F2080009D}"/>
              </a:ext>
            </a:extLst>
          </p:cNvPr>
          <p:cNvSpPr txBox="1"/>
          <p:nvPr/>
        </p:nvSpPr>
        <p:spPr>
          <a:xfrm>
            <a:off x="812800" y="50276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任务台账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E4D922-D388-CF70-F7E6-9C83E3B57DF9}"/>
              </a:ext>
            </a:extLst>
          </p:cNvPr>
          <p:cNvSpPr txBox="1"/>
          <p:nvPr/>
        </p:nvSpPr>
        <p:spPr>
          <a:xfrm>
            <a:off x="812800" y="5624509"/>
            <a:ext cx="4521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TaskLedger</a:t>
            </a:r>
            <a:endParaRPr lang="zh-CN" altLang="en-US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C9CE367-9EDC-143E-4B59-A172E0D7829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00" t="26000" r="8000" b="55000"/>
          <a:stretch/>
        </p:blipFill>
        <p:spPr>
          <a:xfrm>
            <a:off x="2400300" y="6208710"/>
            <a:ext cx="1270000" cy="590449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68FAAAF-477E-FF72-6533-2A6CC250BFF0}"/>
              </a:ext>
            </a:extLst>
          </p:cNvPr>
          <p:cNvSpPr txBox="1"/>
          <p:nvPr/>
        </p:nvSpPr>
        <p:spPr>
          <a:xfrm>
            <a:off x="812800" y="7310433"/>
            <a:ext cx="45212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权威持续状态：目标、约束
决定、进展与待解问题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3C58008-D627-FE34-CF6E-8DA22C97C8F3}"/>
              </a:ext>
            </a:extLst>
          </p:cNvPr>
          <p:cNvSpPr txBox="1"/>
          <p:nvPr/>
        </p:nvSpPr>
        <p:spPr>
          <a:xfrm>
            <a:off x="5867400" y="50276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持续执行检查点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771E0BF-97B3-290B-83B1-980F750B50CE}"/>
              </a:ext>
            </a:extLst>
          </p:cNvPr>
          <p:cNvSpPr txBox="1"/>
          <p:nvPr/>
        </p:nvSpPr>
        <p:spPr>
          <a:xfrm>
            <a:off x="5867400" y="5624509"/>
            <a:ext cx="4521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ContinuationCheckpoint</a:t>
            </a:r>
            <a:endParaRPr lang="zh-CN" altLang="en-US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0F026EAB-9A1C-5CEC-FD5C-98EEAC2DB5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25000" r="72000" b="55000"/>
          <a:stretch/>
        </p:blipFill>
        <p:spPr>
          <a:xfrm>
            <a:off x="7454900" y="6208710"/>
            <a:ext cx="1270000" cy="75237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29D01661-1676-6063-181E-B912E1ACB073}"/>
              </a:ext>
            </a:extLst>
          </p:cNvPr>
          <p:cNvSpPr txBox="1"/>
          <p:nvPr/>
        </p:nvSpPr>
        <p:spPr>
          <a:xfrm>
            <a:off x="5867400" y="7310433"/>
            <a:ext cx="45212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当前焦点、下一步工作
任务、约束与证据引用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F5BA218-4C4D-8536-F3F4-95AF54209B54}"/>
              </a:ext>
            </a:extLst>
          </p:cNvPr>
          <p:cNvSpPr txBox="1"/>
          <p:nvPr/>
        </p:nvSpPr>
        <p:spPr>
          <a:xfrm>
            <a:off x="10922000" y="502760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当前工作上下文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62045D2-6085-99EB-A76D-8AA95E984FE6}"/>
              </a:ext>
            </a:extLst>
          </p:cNvPr>
          <p:cNvSpPr txBox="1"/>
          <p:nvPr/>
        </p:nvSpPr>
        <p:spPr>
          <a:xfrm>
            <a:off x="10922000" y="5624509"/>
            <a:ext cx="4521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Working Context</a:t>
            </a:r>
            <a:endParaRPr lang="zh-CN" altLang="en-US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5A948D28-6A7E-162F-DB9B-523A4E24B09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0" t="25000" r="38000" b="55000"/>
          <a:stretch/>
        </p:blipFill>
        <p:spPr>
          <a:xfrm>
            <a:off x="12509500" y="6208710"/>
            <a:ext cx="1270000" cy="595629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BF432F1A-8D8F-EBFA-3E2D-D8EAA994499D}"/>
              </a:ext>
            </a:extLst>
          </p:cNvPr>
          <p:cNvSpPr txBox="1"/>
          <p:nvPr/>
        </p:nvSpPr>
        <p:spPr>
          <a:xfrm>
            <a:off x="10922000" y="7181841"/>
            <a:ext cx="45212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台账、检查点与检索证据
按任务与预算选择有效信息
优先目标、约束和检查点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C967879F-3638-0B38-4A8E-57F9C09E1022}"/>
              </a:ext>
            </a:extLst>
          </p:cNvPr>
          <p:cNvCxnSpPr/>
          <p:nvPr/>
        </p:nvCxnSpPr>
        <p:spPr>
          <a:xfrm>
            <a:off x="4851400" y="5294310"/>
            <a:ext cx="8382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4FAD3DA9-53EC-574F-F277-989C15C3C753}"/>
              </a:ext>
            </a:extLst>
          </p:cNvPr>
          <p:cNvCxnSpPr/>
          <p:nvPr/>
        </p:nvCxnSpPr>
        <p:spPr>
          <a:xfrm>
            <a:off x="9906000" y="5294310"/>
            <a:ext cx="838200" cy="0"/>
          </a:xfrm>
          <a:prstGeom prst="line">
            <a:avLst/>
          </a:prstGeom>
          <a:ln w="15240">
            <a:solidFill>
              <a:srgbClr val="477C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44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E13AEA-7AA2-D19D-033C-AC602A67BA0D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多智能体协作记忆方案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39D0DF-A456-C6E5-ECD7-BFBB74F33BE7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多智能体的记忆使用与成果交接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C83F33-76B5-C3E8-1DFE-99D64DFD7785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07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86E957-3D53-4723-9993-6BDAA3ED84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0" t="51000" r="72000" b="28000"/>
          <a:stretch/>
        </p:blipFill>
        <p:spPr>
          <a:xfrm>
            <a:off x="1855799" y="2070100"/>
            <a:ext cx="1270000" cy="7504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68FFD1C-BC05-DC76-38C4-9638C4C51E24}"/>
              </a:ext>
            </a:extLst>
          </p:cNvPr>
          <p:cNvSpPr txBox="1"/>
          <p:nvPr/>
        </p:nvSpPr>
        <p:spPr>
          <a:xfrm>
            <a:off x="2476500" y="1943099"/>
            <a:ext cx="8128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Planner｜依赖计划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12980C-8158-0BC8-2FA5-844B932E42CA}"/>
              </a:ext>
            </a:extLst>
          </p:cNvPr>
          <p:cNvSpPr txBox="1"/>
          <p:nvPr/>
        </p:nvSpPr>
        <p:spPr>
          <a:xfrm>
            <a:off x="2476500" y="2552699"/>
            <a:ext cx="8128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子任务图：目标、前驱、工具与完成标准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C1DDEB2-FB25-A3B3-B2D0-9D78772E073B}"/>
              </a:ext>
            </a:extLst>
          </p:cNvPr>
          <p:cNvCxnSpPr/>
          <p:nvPr/>
        </p:nvCxnSpPr>
        <p:spPr>
          <a:xfrm>
            <a:off x="2478099" y="2857500"/>
            <a:ext cx="0" cy="3937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8D734536-CEED-1808-1166-55984D08F0E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0" t="25000" r="38000" b="55000"/>
          <a:stretch/>
        </p:blipFill>
        <p:spPr>
          <a:xfrm>
            <a:off x="1855799" y="3492500"/>
            <a:ext cx="1270000" cy="59562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0B34C7D-FF9A-C7B2-0103-25B63453FDB3}"/>
              </a:ext>
            </a:extLst>
          </p:cNvPr>
          <p:cNvSpPr txBox="1"/>
          <p:nvPr/>
        </p:nvSpPr>
        <p:spPr>
          <a:xfrm>
            <a:off x="2476500" y="3365499"/>
            <a:ext cx="8128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Memory｜证据交接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2F9D83-3680-378A-17E8-B0C35D165417}"/>
              </a:ext>
            </a:extLst>
          </p:cNvPr>
          <p:cNvSpPr txBox="1"/>
          <p:nvPr/>
        </p:nvSpPr>
        <p:spPr>
          <a:xfrm>
            <a:off x="2476500" y="3975099"/>
            <a:ext cx="8128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按子任务需求选择证据、来源与有效版本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CDF39A6-B9B9-1764-6FFA-95BE96293FDC}"/>
              </a:ext>
            </a:extLst>
          </p:cNvPr>
          <p:cNvCxnSpPr/>
          <p:nvPr/>
        </p:nvCxnSpPr>
        <p:spPr>
          <a:xfrm>
            <a:off x="2478099" y="4279900"/>
            <a:ext cx="0" cy="3937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B1BBB909-AABB-9551-313B-BB17E837EA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0" t="51000" r="38000" b="27000"/>
          <a:stretch/>
        </p:blipFill>
        <p:spPr>
          <a:xfrm>
            <a:off x="1855799" y="4914900"/>
            <a:ext cx="1270000" cy="65519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61A38D1-4730-2D29-93BB-F4888BFDEB31}"/>
              </a:ext>
            </a:extLst>
          </p:cNvPr>
          <p:cNvSpPr txBox="1"/>
          <p:nvPr/>
        </p:nvSpPr>
        <p:spPr>
          <a:xfrm>
            <a:off x="2476500" y="4787899"/>
            <a:ext cx="8128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Executor｜行动回执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3E5C1E-82E9-D456-A6D6-DADE8B010AB0}"/>
              </a:ext>
            </a:extLst>
          </p:cNvPr>
          <p:cNvSpPr txBox="1"/>
          <p:nvPr/>
        </p:nvSpPr>
        <p:spPr>
          <a:xfrm>
            <a:off x="2476500" y="5397499"/>
            <a:ext cx="8128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授权工具 → 执行成果、回执 ID 与来源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03039E8-A2EC-8BF7-2D3A-67EFB9ADBDDB}"/>
              </a:ext>
            </a:extLst>
          </p:cNvPr>
          <p:cNvCxnSpPr/>
          <p:nvPr/>
        </p:nvCxnSpPr>
        <p:spPr>
          <a:xfrm>
            <a:off x="2478099" y="5702300"/>
            <a:ext cx="0" cy="3937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77E28AB3-D0CF-6FF1-109C-331393D6BF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00" t="50000" r="4000" b="27000"/>
          <a:stretch/>
        </p:blipFill>
        <p:spPr>
          <a:xfrm>
            <a:off x="1855799" y="6337300"/>
            <a:ext cx="1270000" cy="56687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45012D2-E29A-FC5A-1C4D-B377610B7F7E}"/>
              </a:ext>
            </a:extLst>
          </p:cNvPr>
          <p:cNvSpPr txBox="1"/>
          <p:nvPr/>
        </p:nvSpPr>
        <p:spPr>
          <a:xfrm>
            <a:off x="2476500" y="6210299"/>
            <a:ext cx="8128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Verifier｜结果核验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ACF849-AF74-8939-3BE3-2314EEC84D99}"/>
              </a:ext>
            </a:extLst>
          </p:cNvPr>
          <p:cNvSpPr txBox="1"/>
          <p:nvPr/>
        </p:nvSpPr>
        <p:spPr>
          <a:xfrm>
            <a:off x="2476500" y="6819899"/>
            <a:ext cx="81280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完成要求＋真实回执＋成果 → 核验状态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31CB328-60F9-62B7-951C-14BDFAB164CC}"/>
              </a:ext>
            </a:extLst>
          </p:cNvPr>
          <p:cNvSpPr txBox="1"/>
          <p:nvPr/>
        </p:nvSpPr>
        <p:spPr>
          <a:xfrm>
            <a:off x="2487168" y="7424927"/>
            <a:ext cx="8183879" cy="640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执行状态与交接记录
任务依赖 · 证据版本 · 已核验成果 · 检查点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402BBFB-923A-28DF-9A3D-55267912785F}"/>
              </a:ext>
            </a:extLst>
          </p:cNvPr>
          <p:cNvCxnSpPr/>
          <p:nvPr/>
        </p:nvCxnSpPr>
        <p:spPr>
          <a:xfrm>
            <a:off x="2478099" y="7137400"/>
            <a:ext cx="0" cy="812800"/>
          </a:xfrm>
          <a:prstGeom prst="line">
            <a:avLst/>
          </a:prstGeom>
          <a:ln w="1524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D006B0A-0DB2-829B-D981-222604BF78B4}"/>
              </a:ext>
            </a:extLst>
          </p:cNvPr>
          <p:cNvCxnSpPr/>
          <p:nvPr/>
        </p:nvCxnSpPr>
        <p:spPr>
          <a:xfrm>
            <a:off x="2478099" y="7950200"/>
            <a:ext cx="8509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F7B9B77-339E-89EE-39AF-C419D4A44DE9}"/>
              </a:ext>
            </a:extLst>
          </p:cNvPr>
          <p:cNvCxnSpPr/>
          <p:nvPr/>
        </p:nvCxnSpPr>
        <p:spPr>
          <a:xfrm>
            <a:off x="10166340" y="1790698"/>
            <a:ext cx="0" cy="637540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CF213727-6DBC-F3D7-6B28-0FD01E8AEE5C}"/>
              </a:ext>
            </a:extLst>
          </p:cNvPr>
          <p:cNvSpPr txBox="1"/>
          <p:nvPr/>
        </p:nvSpPr>
        <p:spPr>
          <a:xfrm>
            <a:off x="11074396" y="1828797"/>
            <a:ext cx="37973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4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Coordinator
协调与执行控制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AEF7173-4D59-7347-3096-E9D93F424CB8}"/>
              </a:ext>
            </a:extLst>
          </p:cNvPr>
          <p:cNvSpPr txBox="1"/>
          <p:nvPr/>
        </p:nvSpPr>
        <p:spPr>
          <a:xfrm>
            <a:off x="11074396" y="2933695"/>
            <a:ext cx="37973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依赖图与排序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2BD8E5B-65D7-0BCA-548A-6A9DC22B4937}"/>
              </a:ext>
            </a:extLst>
          </p:cNvPr>
          <p:cNvSpPr txBox="1"/>
          <p:nvPr/>
        </p:nvSpPr>
        <p:spPr>
          <a:xfrm>
            <a:off x="11074396" y="3338504"/>
            <a:ext cx="37973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校验前驱、工具及 DAG 无环性
拓扑排序安排执行顺序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FB31FF3-A0DB-A6DF-CCB4-1093EFB8397C}"/>
              </a:ext>
            </a:extLst>
          </p:cNvPr>
          <p:cNvSpPr txBox="1"/>
          <p:nvPr/>
        </p:nvSpPr>
        <p:spPr>
          <a:xfrm>
            <a:off x="11074396" y="4229095"/>
            <a:ext cx="37973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权限与共享预算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901741F-6486-65FE-5C29-09B3B01686EC}"/>
              </a:ext>
            </a:extLst>
          </p:cNvPr>
          <p:cNvSpPr txBox="1"/>
          <p:nvPr/>
        </p:nvSpPr>
        <p:spPr>
          <a:xfrm>
            <a:off x="11074396" y="4633904"/>
            <a:ext cx="37973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校验角色与工具权限
模型调用共用同一预算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B37981E-16DF-A054-F9C3-F1C4D474E3C1}"/>
              </a:ext>
            </a:extLst>
          </p:cNvPr>
          <p:cNvSpPr txBox="1"/>
          <p:nvPr/>
        </p:nvSpPr>
        <p:spPr>
          <a:xfrm>
            <a:off x="11074396" y="5524495"/>
            <a:ext cx="37973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交接与成果状态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4AA1ED8-8998-596F-40BB-94DBF4B53ABE}"/>
              </a:ext>
            </a:extLst>
          </p:cNvPr>
          <p:cNvSpPr txBox="1"/>
          <p:nvPr/>
        </p:nvSpPr>
        <p:spPr>
          <a:xfrm>
            <a:off x="11074396" y="5929304"/>
            <a:ext cx="37973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持久化证据版本与成果引用
按实际核验状态控制交接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FD6196E-D222-0D0A-D50F-87F0305613A8}"/>
              </a:ext>
            </a:extLst>
          </p:cNvPr>
          <p:cNvSpPr txBox="1"/>
          <p:nvPr/>
        </p:nvSpPr>
        <p:spPr>
          <a:xfrm>
            <a:off x="11074396" y="6819895"/>
            <a:ext cx="37973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执行记忆维护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6BD6277-2208-B7EB-26DB-B955F1CF6F36}"/>
              </a:ext>
            </a:extLst>
          </p:cNvPr>
          <p:cNvSpPr txBox="1"/>
          <p:nvPr/>
        </p:nvSpPr>
        <p:spPr>
          <a:xfrm>
            <a:off x="11074396" y="7224704"/>
            <a:ext cx="37973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维护台账、依赖和检查点
通过核验后推进后继任务</a:t>
            </a:r>
          </a:p>
        </p:txBody>
      </p:sp>
    </p:spTree>
    <p:extLst>
      <p:ext uri="{BB962C8B-B14F-4D97-AF65-F5344CB8AC3E}">
        <p14:creationId xmlns:p14="http://schemas.microsoft.com/office/powerpoint/2010/main" val="3791446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B45779-6836-A4DA-534D-668E7E50AB55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多智能体协作记忆方案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9E0756-5F70-8F06-B054-50CAA633AACB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按子任务需求检索与核验证据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8BD184-A68C-2B87-B13D-72EE71220075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08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DA79BF-F902-9409-6342-53BB22D4C5DE}"/>
              </a:ext>
            </a:extLst>
          </p:cNvPr>
          <p:cNvSpPr txBox="1"/>
          <p:nvPr/>
        </p:nvSpPr>
        <p:spPr>
          <a:xfrm>
            <a:off x="812800" y="1917699"/>
            <a:ext cx="4521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证据需求 EvidenceNeed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F29923-278D-BC84-3834-349034DF0C8F}"/>
              </a:ext>
            </a:extLst>
          </p:cNvPr>
          <p:cNvSpPr txBox="1"/>
          <p:nvPr/>
        </p:nvSpPr>
        <p:spPr>
          <a:xfrm>
            <a:off x="812800" y="2393946"/>
            <a:ext cx="45212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子任务目标与完成标准
必需字段、情境与来源等级
证据权限及覆盖条件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C4B359-8FC7-DFC4-5974-1A62D25701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0" t="51000" r="72000" b="28000"/>
          <a:stretch/>
        </p:blipFill>
        <p:spPr>
          <a:xfrm>
            <a:off x="2133600" y="4000500"/>
            <a:ext cx="1905000" cy="112573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E90AA7E-73AC-0853-78F3-0F3D6B6394F9}"/>
              </a:ext>
            </a:extLst>
          </p:cNvPr>
          <p:cNvCxnSpPr/>
          <p:nvPr/>
        </p:nvCxnSpPr>
        <p:spPr>
          <a:xfrm>
            <a:off x="4889500" y="2184400"/>
            <a:ext cx="8128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B7076A7-8D69-AD98-8252-ECFACC026422}"/>
              </a:ext>
            </a:extLst>
          </p:cNvPr>
          <p:cNvSpPr txBox="1"/>
          <p:nvPr/>
        </p:nvSpPr>
        <p:spPr>
          <a:xfrm>
            <a:off x="5867400" y="1917699"/>
            <a:ext cx="4521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候选召回与来源版本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A31D2F-642F-600D-012D-B3FFC1618A9F}"/>
              </a:ext>
            </a:extLst>
          </p:cNvPr>
          <p:cNvSpPr txBox="1"/>
          <p:nvPr/>
        </p:nvSpPr>
        <p:spPr>
          <a:xfrm>
            <a:off x="5867400" y="2351082"/>
            <a:ext cx="45212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权限内检索当前有效记忆
检查情境适用性与来源
形成带版本的候选证据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C67B174-E54D-D508-A0B7-7F0DB6FEF223}"/>
              </a:ext>
            </a:extLst>
          </p:cNvPr>
          <p:cNvCxnSpPr/>
          <p:nvPr/>
        </p:nvCxnSpPr>
        <p:spPr>
          <a:xfrm>
            <a:off x="8128000" y="3797300"/>
            <a:ext cx="0" cy="3937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8CBA232-AEB8-12F1-1B0F-046B781FC538}"/>
              </a:ext>
            </a:extLst>
          </p:cNvPr>
          <p:cNvSpPr txBox="1"/>
          <p:nvPr/>
        </p:nvSpPr>
        <p:spPr>
          <a:xfrm>
            <a:off x="5867400" y="44322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条件覆盖与充分性判断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E2642F-04BF-1BE9-65F2-50D3B422BCA4}"/>
              </a:ext>
            </a:extLst>
          </p:cNvPr>
          <p:cNvSpPr txBox="1"/>
          <p:nvPr/>
        </p:nvSpPr>
        <p:spPr>
          <a:xfrm>
            <a:off x="5867400" y="4837106"/>
            <a:ext cx="45212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必需条件均有来源支持
冲突与来源有效性已核查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8FC36D-D32D-4AC1-429F-4825339670CB}"/>
              </a:ext>
            </a:extLst>
          </p:cNvPr>
          <p:cNvSpPr txBox="1"/>
          <p:nvPr/>
        </p:nvSpPr>
        <p:spPr>
          <a:xfrm>
            <a:off x="10985500" y="1917699"/>
            <a:ext cx="44577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原始来源层与再次核验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25B6CA26-951D-6BA5-CA49-3EC415609B5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0" t="25000" r="72000" b="55000"/>
          <a:stretch/>
        </p:blipFill>
        <p:spPr>
          <a:xfrm>
            <a:off x="12204700" y="2705100"/>
            <a:ext cx="1905000" cy="112856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8ADB2B4A-C21F-521E-691D-65D0CE8FB62A}"/>
              </a:ext>
            </a:extLst>
          </p:cNvPr>
          <p:cNvSpPr txBox="1"/>
          <p:nvPr/>
        </p:nvSpPr>
        <p:spPr>
          <a:xfrm>
            <a:off x="10985500" y="4108446"/>
            <a:ext cx="4457700" cy="109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原始消息 / 执行回执 / 成果
验证来源与支持片段
按预算补足证据后复核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1EFF6DDB-930E-916F-DE0A-2376E7F52331}"/>
              </a:ext>
            </a:extLst>
          </p:cNvPr>
          <p:cNvCxnSpPr>
            <a:cxnSpLocks/>
          </p:cNvCxnSpPr>
          <p:nvPr/>
        </p:nvCxnSpPr>
        <p:spPr>
          <a:xfrm>
            <a:off x="10039343" y="4611684"/>
            <a:ext cx="1190628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57FE4B1-3E76-37B7-67BF-5EF6519CE937}"/>
              </a:ext>
            </a:extLst>
          </p:cNvPr>
          <p:cNvSpPr txBox="1"/>
          <p:nvPr/>
        </p:nvSpPr>
        <p:spPr>
          <a:xfrm>
            <a:off x="10039604" y="4278377"/>
            <a:ext cx="1078992" cy="356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证据不足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010F109-62DE-63F4-DA24-0CFA7AC60393}"/>
              </a:ext>
            </a:extLst>
          </p:cNvPr>
          <p:cNvCxnSpPr/>
          <p:nvPr/>
        </p:nvCxnSpPr>
        <p:spPr>
          <a:xfrm>
            <a:off x="13157200" y="5575300"/>
            <a:ext cx="0" cy="558800"/>
          </a:xfrm>
          <a:prstGeom prst="line">
            <a:avLst/>
          </a:prstGeom>
          <a:ln w="1524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220F70D-625B-C355-55D5-6CBC29704DA3}"/>
              </a:ext>
            </a:extLst>
          </p:cNvPr>
          <p:cNvCxnSpPr/>
          <p:nvPr/>
        </p:nvCxnSpPr>
        <p:spPr>
          <a:xfrm flipH="1">
            <a:off x="8128000" y="6134100"/>
            <a:ext cx="5029200" cy="0"/>
          </a:xfrm>
          <a:prstGeom prst="line">
            <a:avLst/>
          </a:prstGeom>
          <a:ln w="1524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B51A526-C7FE-4737-1E8A-F70D50DB82AC}"/>
              </a:ext>
            </a:extLst>
          </p:cNvPr>
          <p:cNvCxnSpPr>
            <a:cxnSpLocks/>
          </p:cNvCxnSpPr>
          <p:nvPr/>
        </p:nvCxnSpPr>
        <p:spPr>
          <a:xfrm flipV="1">
            <a:off x="8128000" y="5744138"/>
            <a:ext cx="0" cy="389962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AD06632-92FA-09F8-799F-268FCF38EC6E}"/>
              </a:ext>
            </a:extLst>
          </p:cNvPr>
          <p:cNvCxnSpPr>
            <a:cxnSpLocks/>
          </p:cNvCxnSpPr>
          <p:nvPr/>
        </p:nvCxnSpPr>
        <p:spPr>
          <a:xfrm>
            <a:off x="13157200" y="6134100"/>
            <a:ext cx="0" cy="614353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EF6B267-FBAF-40E1-33AA-79699FC9A491}"/>
              </a:ext>
            </a:extLst>
          </p:cNvPr>
          <p:cNvSpPr txBox="1"/>
          <p:nvPr/>
        </p:nvSpPr>
        <p:spPr>
          <a:xfrm>
            <a:off x="10985500" y="6872285"/>
            <a:ext cx="44577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94713B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持续不足：记录缺口
向任务请求补充信息
保留核验状态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6267CFA-357E-41B7-2151-34770DAAD400}"/>
              </a:ext>
            </a:extLst>
          </p:cNvPr>
          <p:cNvCxnSpPr>
            <a:cxnSpLocks/>
          </p:cNvCxnSpPr>
          <p:nvPr/>
        </p:nvCxnSpPr>
        <p:spPr>
          <a:xfrm flipH="1">
            <a:off x="5441950" y="4638673"/>
            <a:ext cx="954088" cy="0"/>
          </a:xfrm>
          <a:prstGeom prst="line">
            <a:avLst/>
          </a:prstGeom>
          <a:ln w="1524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85B1875-9929-CD63-20AB-11DBA6AE3B92}"/>
              </a:ext>
            </a:extLst>
          </p:cNvPr>
          <p:cNvCxnSpPr>
            <a:cxnSpLocks/>
          </p:cNvCxnSpPr>
          <p:nvPr/>
        </p:nvCxnSpPr>
        <p:spPr>
          <a:xfrm>
            <a:off x="5441950" y="4634993"/>
            <a:ext cx="19050" cy="1897560"/>
          </a:xfrm>
          <a:prstGeom prst="line">
            <a:avLst/>
          </a:prstGeom>
          <a:ln w="15240">
            <a:solidFill>
              <a:srgbClr val="6F9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A2B567E-0094-9A87-87CA-7B9C3B8C34B4}"/>
              </a:ext>
            </a:extLst>
          </p:cNvPr>
          <p:cNvCxnSpPr/>
          <p:nvPr/>
        </p:nvCxnSpPr>
        <p:spPr>
          <a:xfrm flipH="1">
            <a:off x="5118100" y="6519854"/>
            <a:ext cx="3429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9F068D8-80E6-C374-A2CC-F17F1E99F6CF}"/>
              </a:ext>
            </a:extLst>
          </p:cNvPr>
          <p:cNvSpPr txBox="1"/>
          <p:nvPr/>
        </p:nvSpPr>
        <p:spPr>
          <a:xfrm>
            <a:off x="3919350" y="5396666"/>
            <a:ext cx="1600200" cy="3474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b="1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证据充分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1E5AB83-187C-FA79-57FB-415F71F641CA}"/>
              </a:ext>
            </a:extLst>
          </p:cNvPr>
          <p:cNvSpPr txBox="1"/>
          <p:nvPr/>
        </p:nvSpPr>
        <p:spPr>
          <a:xfrm>
            <a:off x="812800" y="6088053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证据交接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0719585-5BE1-9D61-EC5A-329A83AAEE35}"/>
              </a:ext>
            </a:extLst>
          </p:cNvPr>
          <p:cNvSpPr txBox="1"/>
          <p:nvPr/>
        </p:nvSpPr>
        <p:spPr>
          <a:xfrm>
            <a:off x="812800" y="6577000"/>
            <a:ext cx="45212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 ID、来源版本与支持片段
必要条件覆盖与使用范围</a:t>
            </a:r>
          </a:p>
        </p:txBody>
      </p:sp>
    </p:spTree>
    <p:extLst>
      <p:ext uri="{BB962C8B-B14F-4D97-AF65-F5344CB8AC3E}">
        <p14:creationId xmlns:p14="http://schemas.microsoft.com/office/powerpoint/2010/main" val="236225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A8E489F-E88F-EEFE-4F95-EB52C270B260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多智能体协作记忆方案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DD727A-8255-FE18-DCA3-5C17977BB71D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输入变更后的依赖检查与任务恢复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377B997-3CC0-D082-E9BA-4F5D2DFF3EED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09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F3A78A3-FF45-509B-ED91-3D924AF0FAAA}"/>
              </a:ext>
            </a:extLst>
          </p:cNvPr>
          <p:cNvSpPr txBox="1"/>
          <p:nvPr/>
        </p:nvSpPr>
        <p:spPr>
          <a:xfrm>
            <a:off x="8128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输入版本记录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A54EAF7-F348-BB23-0B88-E6216637CD74}"/>
              </a:ext>
            </a:extLst>
          </p:cNvPr>
          <p:cNvSpPr txBox="1"/>
          <p:nvPr/>
        </p:nvSpPr>
        <p:spPr>
          <a:xfrm>
            <a:off x="812800" y="2517771"/>
            <a:ext cx="45212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约束、记忆及前置成果
关联来源与版本身份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3E93E0B-58D2-A7EA-C340-F1CFA0E634DB}"/>
              </a:ext>
            </a:extLst>
          </p:cNvPr>
          <p:cNvSpPr txBox="1"/>
          <p:nvPr/>
        </p:nvSpPr>
        <p:spPr>
          <a:xfrm>
            <a:off x="58674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执行前版本校验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FF1A9DA-B8C0-19D8-3F01-6EE406054F41}"/>
              </a:ext>
            </a:extLst>
          </p:cNvPr>
          <p:cNvSpPr txBox="1"/>
          <p:nvPr/>
        </p:nvSpPr>
        <p:spPr>
          <a:xfrm>
            <a:off x="5867400" y="2517771"/>
            <a:ext cx="45212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计划输入 F、执行输入 C
权威当前版本 H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879EFEA-8433-53F0-6A7E-B159B1694E30}"/>
              </a:ext>
            </a:extLst>
          </p:cNvPr>
          <p:cNvSpPr txBox="1"/>
          <p:nvPr/>
        </p:nvSpPr>
        <p:spPr>
          <a:xfrm>
            <a:off x="109220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反向依赖定位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8AC997F-9757-71BD-1DDF-FEA910C0CFFF}"/>
              </a:ext>
            </a:extLst>
          </p:cNvPr>
          <p:cNvSpPr txBox="1"/>
          <p:nvPr/>
        </p:nvSpPr>
        <p:spPr>
          <a:xfrm>
            <a:off x="10922000" y="2517771"/>
            <a:ext cx="45212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由变更来源定位直接依赖
得到失效起点集合 S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5D40F3A-F3A9-090E-C80E-82C9580CD74F}"/>
              </a:ext>
            </a:extLst>
          </p:cNvPr>
          <p:cNvSpPr txBox="1"/>
          <p:nvPr/>
        </p:nvSpPr>
        <p:spPr>
          <a:xfrm>
            <a:off x="4493260" y="3735965"/>
            <a:ext cx="7269480" cy="411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0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仅比较任务实际依赖的输入：F = H 且 C = H</a:t>
            </a:r>
            <a:endParaRPr lang="zh-CN" altLang="en-US" sz="1900" b="1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2E42E23-EBAD-2D0F-BC0C-103686894C01}"/>
              </a:ext>
            </a:extLst>
          </p:cNvPr>
          <p:cNvCxnSpPr/>
          <p:nvPr/>
        </p:nvCxnSpPr>
        <p:spPr>
          <a:xfrm>
            <a:off x="4864100" y="2171700"/>
            <a:ext cx="8255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BDF41F4-654E-5FD9-A4CE-B711085C71EE}"/>
              </a:ext>
            </a:extLst>
          </p:cNvPr>
          <p:cNvCxnSpPr/>
          <p:nvPr/>
        </p:nvCxnSpPr>
        <p:spPr>
          <a:xfrm>
            <a:off x="9918700" y="2171700"/>
            <a:ext cx="8255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6680" y="4705924"/>
            <a:ext cx="4370832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25364A"/>
                </a:solidFill>
                <a:latin typeface="Arial"/>
              </a:rPr>
              <a:t>依赖失效传播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6680" y="5351387"/>
            <a:ext cx="4407408" cy="12690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25364A"/>
                </a:solidFill>
                <a:latin typeface="Arial"/>
              </a:rPr>
              <a:t>S：直接受影响的任务节点
Desc(S)：沿依赖边可到达的后继
A = S ∪ Desc(S)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6680" y="6963259"/>
            <a:ext cx="4407408" cy="8250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477CA8"/>
                </a:solidFill>
                <a:latin typeface="Arial"/>
              </a:rPr>
              <a:t>A 内：失效或受阻
A 外：保留有效且已核验的成果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4724212"/>
            <a:ext cx="51206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25364A"/>
                </a:solidFill>
                <a:latin typeface="Arial"/>
              </a:rPr>
              <a:t>依赖图与状态传播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9368" y="5359721"/>
            <a:ext cx="1463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25364A"/>
                </a:solidFill>
                <a:latin typeface="Arial"/>
              </a:rPr>
              <a:t>v₁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49368" y="5768524"/>
            <a:ext cx="14630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6F9E98"/>
                </a:solidFill>
                <a:latin typeface="Arial"/>
              </a:rPr>
              <a:t>有效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71944" y="5359721"/>
            <a:ext cx="1463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477CA8"/>
                </a:solidFill>
                <a:latin typeface="Arial"/>
              </a:rPr>
              <a:t>v₂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61632" y="5768524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477CA8"/>
                </a:solidFill>
                <a:latin typeface="Arial"/>
              </a:rPr>
              <a:t>直接失效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49368" y="6813617"/>
            <a:ext cx="1463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25364A"/>
                </a:solidFill>
                <a:latin typeface="Arial"/>
              </a:rPr>
              <a:t>v₃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2480" y="7222420"/>
            <a:ext cx="195681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6F9E98"/>
                </a:solidFill>
                <a:latin typeface="Arial"/>
              </a:rPr>
              <a:t>继续有效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71944" y="6813617"/>
            <a:ext cx="146304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477CA8"/>
                </a:solidFill>
                <a:latin typeface="Arial"/>
              </a:rPr>
              <a:t>v₄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61632" y="722242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477CA8"/>
                </a:solidFill>
                <a:latin typeface="Arial"/>
              </a:rPr>
              <a:t>后继失效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099176" y="6126480"/>
            <a:ext cx="0" cy="557784"/>
          </a:xfrm>
          <a:prstGeom prst="line">
            <a:avLst/>
          </a:prstGeom>
          <a:ln w="15240">
            <a:solidFill>
              <a:srgbClr val="6F9E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12608" y="6126480"/>
            <a:ext cx="0" cy="557784"/>
          </a:xfrm>
          <a:prstGeom prst="line">
            <a:avLst/>
          </a:prstGeom>
          <a:ln w="15240">
            <a:solidFill>
              <a:srgbClr val="6F9E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720968" y="5559552"/>
            <a:ext cx="914400" cy="0"/>
          </a:xfrm>
          <a:prstGeom prst="line">
            <a:avLst/>
          </a:prstGeom>
          <a:ln w="15240">
            <a:solidFill>
              <a:srgbClr val="6F9E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739256" y="5268950"/>
            <a:ext cx="106070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7B8794"/>
                </a:solidFill>
                <a:latin typeface="Arial"/>
              </a:rPr>
              <a:t>依赖边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0223" y="4724212"/>
            <a:ext cx="4736592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dirty="0" err="1">
                <a:solidFill>
                  <a:srgbClr val="25364A"/>
                </a:solidFill>
                <a:latin typeface="Arial"/>
              </a:rPr>
              <a:t>局部恢复与核验</a:t>
            </a:r>
            <a:endParaRPr sz="2300" b="1" dirty="0">
              <a:solidFill>
                <a:srgbClr val="25364A"/>
              </a:solidFill>
              <a:latin typeface="Aria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880223" y="5436541"/>
            <a:ext cx="4754880" cy="17021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25364A"/>
                </a:solidFill>
                <a:latin typeface="Arial"/>
              </a:rPr>
              <a:t>根据依赖顺序重新取证
受影响节点重新规划或执行
核验后更新成果及输入版本
更新检查点并释放后续任务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0223" y="7588180"/>
            <a:ext cx="475488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477CA8"/>
                </a:solidFill>
                <a:latin typeface="Arial"/>
              </a:rPr>
              <a:t>稳定事件身份 · 重试上限 · 共享预算</a:t>
            </a:r>
          </a:p>
        </p:txBody>
      </p:sp>
    </p:spTree>
    <p:extLst>
      <p:ext uri="{BB962C8B-B14F-4D97-AF65-F5344CB8AC3E}">
        <p14:creationId xmlns:p14="http://schemas.microsoft.com/office/powerpoint/2010/main" val="3354227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A3EEF5B-2C45-E7CE-D745-FCF23FB4E932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多智能体协作记忆方案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CD9686-FE0F-F9CC-8F46-C6A0961FE818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执行经验的验证、保存与复用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F9D20C-F306-D4F0-CAE0-D25D1D6AACBB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10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0B9D16-BB72-F307-8776-BE1FF6AD7B35}"/>
              </a:ext>
            </a:extLst>
          </p:cNvPr>
          <p:cNvSpPr txBox="1"/>
          <p:nvPr/>
        </p:nvSpPr>
        <p:spPr>
          <a:xfrm>
            <a:off x="8128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候选经验结构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F6EF21E-8A02-8770-2A2F-43917F384F65}"/>
              </a:ext>
            </a:extLst>
          </p:cNvPr>
          <p:cNvSpPr txBox="1"/>
          <p:nvPr/>
        </p:nvSpPr>
        <p:spPr>
          <a:xfrm>
            <a:off x="58674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经验准入核验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392AC72-211B-65FA-5585-0AA79A35E257}"/>
              </a:ext>
            </a:extLst>
          </p:cNvPr>
          <p:cNvSpPr txBox="1"/>
          <p:nvPr/>
        </p:nvSpPr>
        <p:spPr>
          <a:xfrm>
            <a:off x="10922000" y="1917699"/>
            <a:ext cx="45212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4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适用性检查与复用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AA175BE-575E-85A7-54FC-53B6A15035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0000" r="66667"/>
          <a:stretch/>
        </p:blipFill>
        <p:spPr>
          <a:xfrm>
            <a:off x="2197100" y="2536821"/>
            <a:ext cx="1778000" cy="149939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727A77F-649E-1320-23A6-6473212FCC9B}"/>
              </a:ext>
            </a:extLst>
          </p:cNvPr>
          <p:cNvSpPr txBox="1"/>
          <p:nvPr/>
        </p:nvSpPr>
        <p:spPr>
          <a:xfrm>
            <a:off x="812800" y="3940167"/>
            <a:ext cx="45212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程序性经验 Experience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361D439-CEC3-EA64-7B0C-B794D82E04D8}"/>
              </a:ext>
            </a:extLst>
          </p:cNvPr>
          <p:cNvSpPr txBox="1"/>
          <p:nvPr/>
        </p:nvSpPr>
        <p:spPr>
          <a:xfrm>
            <a:off x="813816" y="4464550"/>
            <a:ext cx="4517136" cy="15544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任务类型与前置条件
行动方法与工具版本
结果、来源及核验状态
适用范围和复用记录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D3DB039-BCD9-54C3-7F3E-C9AD96714C09}"/>
              </a:ext>
            </a:extLst>
          </p:cNvPr>
          <p:cNvCxnSpPr/>
          <p:nvPr/>
        </p:nvCxnSpPr>
        <p:spPr>
          <a:xfrm>
            <a:off x="4864100" y="2146300"/>
            <a:ext cx="8255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C58FC9B-60AA-7BE6-90D3-2A84F89DB6ED}"/>
              </a:ext>
            </a:extLst>
          </p:cNvPr>
          <p:cNvSpPr txBox="1"/>
          <p:nvPr/>
        </p:nvSpPr>
        <p:spPr>
          <a:xfrm>
            <a:off x="5867400" y="2679699"/>
            <a:ext cx="4521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来源与权限校验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B177B0D-9309-404C-2817-0404CFD29C5D}"/>
              </a:ext>
            </a:extLst>
          </p:cNvPr>
          <p:cNvSpPr txBox="1"/>
          <p:nvPr/>
        </p:nvSpPr>
        <p:spPr>
          <a:xfrm>
            <a:off x="5867400" y="3225799"/>
            <a:ext cx="45212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来源可追溯、读取权限有效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CE0BB62-07BC-7792-5DE1-54C3DDCA2E8E}"/>
              </a:ext>
            </a:extLst>
          </p:cNvPr>
          <p:cNvSpPr txBox="1"/>
          <p:nvPr/>
        </p:nvSpPr>
        <p:spPr>
          <a:xfrm>
            <a:off x="5867400" y="3924299"/>
            <a:ext cx="4521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结果与过程核验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696F930-FD7F-99A5-976B-AAC049DEE11E}"/>
              </a:ext>
            </a:extLst>
          </p:cNvPr>
          <p:cNvSpPr txBox="1"/>
          <p:nvPr/>
        </p:nvSpPr>
        <p:spPr>
          <a:xfrm>
            <a:off x="5867400" y="4470399"/>
            <a:ext cx="45212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成果与关键行动均有真实记录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CCFE641-CAB1-AC04-AB09-E2294DE6E407}"/>
              </a:ext>
            </a:extLst>
          </p:cNvPr>
          <p:cNvSpPr txBox="1"/>
          <p:nvPr/>
        </p:nvSpPr>
        <p:spPr>
          <a:xfrm>
            <a:off x="5867400" y="5168899"/>
            <a:ext cx="4521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适用条件核验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C2376F-4DB2-D4AC-1532-B0BEBFB0E4AD}"/>
              </a:ext>
            </a:extLst>
          </p:cNvPr>
          <p:cNvSpPr txBox="1"/>
          <p:nvPr/>
        </p:nvSpPr>
        <p:spPr>
          <a:xfrm>
            <a:off x="5867400" y="5714999"/>
            <a:ext cx="45212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前置条件、环境及范围一致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2B7CDC6-F6DD-5876-9D6E-CFD847399164}"/>
              </a:ext>
            </a:extLst>
          </p:cNvPr>
          <p:cNvSpPr txBox="1"/>
          <p:nvPr/>
        </p:nvSpPr>
        <p:spPr>
          <a:xfrm>
            <a:off x="5870448" y="6143041"/>
            <a:ext cx="4517136" cy="74980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满足条件 → 保存版本
存在缺口 → 隔离并修订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3238356-C4A9-F7E0-3762-EE73901D6805}"/>
              </a:ext>
            </a:extLst>
          </p:cNvPr>
          <p:cNvCxnSpPr/>
          <p:nvPr/>
        </p:nvCxnSpPr>
        <p:spPr>
          <a:xfrm>
            <a:off x="9918700" y="2146300"/>
            <a:ext cx="825500" cy="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85094D0-E17D-9751-D1AC-EDDBF4CB6FF4}"/>
              </a:ext>
            </a:extLst>
          </p:cNvPr>
          <p:cNvSpPr txBox="1"/>
          <p:nvPr/>
        </p:nvSpPr>
        <p:spPr>
          <a:xfrm>
            <a:off x="10922000" y="2465381"/>
            <a:ext cx="4521200" cy="1079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核对新任务的对象与约束
匹配当前工具环境
选择适用的经验进入执行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C82E65F-0957-D55C-EFF9-63AB1DF201DA}"/>
              </a:ext>
            </a:extLst>
          </p:cNvPr>
          <p:cNvCxnSpPr/>
          <p:nvPr/>
        </p:nvCxnSpPr>
        <p:spPr>
          <a:xfrm>
            <a:off x="13157200" y="4013200"/>
            <a:ext cx="0" cy="355600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41D4449D-3A3D-4EB2-3018-2AA3D3F71E6D}"/>
              </a:ext>
            </a:extLst>
          </p:cNvPr>
          <p:cNvSpPr txBox="1"/>
          <p:nvPr/>
        </p:nvSpPr>
        <p:spPr>
          <a:xfrm>
            <a:off x="10922000" y="4635499"/>
            <a:ext cx="4521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执行结果与复用反馈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CA2839-7B78-D47B-E609-BC1321985902}"/>
              </a:ext>
            </a:extLst>
          </p:cNvPr>
          <p:cNvSpPr txBox="1"/>
          <p:nvPr/>
        </p:nvSpPr>
        <p:spPr>
          <a:xfrm>
            <a:off x="10922000" y="5114921"/>
            <a:ext cx="4521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实际结果与核验记录
资源消耗、失败原因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A940FEC-32F6-CB8B-AAE2-CE06350733E3}"/>
              </a:ext>
            </a:extLst>
          </p:cNvPr>
          <p:cNvCxnSpPr>
            <a:cxnSpLocks/>
          </p:cNvCxnSpPr>
          <p:nvPr/>
        </p:nvCxnSpPr>
        <p:spPr>
          <a:xfrm>
            <a:off x="13157200" y="6243638"/>
            <a:ext cx="0" cy="445762"/>
          </a:xfrm>
          <a:prstGeom prst="line">
            <a:avLst/>
          </a:prstGeom>
          <a:ln w="15240">
            <a:solidFill>
              <a:srgbClr val="6F9E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9F7DD52-AF69-6B1B-17A5-117AF57763C0}"/>
              </a:ext>
            </a:extLst>
          </p:cNvPr>
          <p:cNvSpPr txBox="1"/>
          <p:nvPr/>
        </p:nvSpPr>
        <p:spPr>
          <a:xfrm>
            <a:off x="11117961" y="6812261"/>
            <a:ext cx="4517136" cy="84124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更新经验有效版本
修订适用条件与选择权重</a:t>
            </a:r>
          </a:p>
        </p:txBody>
      </p:sp>
      <p:cxnSp>
        <p:nvCxnSpPr>
          <p:cNvPr id="51" name="Connector 50"/>
          <p:cNvCxnSpPr>
            <a:cxnSpLocks/>
          </p:cNvCxnSpPr>
          <p:nvPr/>
        </p:nvCxnSpPr>
        <p:spPr>
          <a:xfrm flipH="1">
            <a:off x="3086100" y="7275748"/>
            <a:ext cx="8586788" cy="0"/>
          </a:xfrm>
          <a:prstGeom prst="line">
            <a:avLst/>
          </a:prstGeom>
          <a:ln w="15240">
            <a:solidFill>
              <a:srgbClr val="6F9E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cxnSpLocks/>
          </p:cNvCxnSpPr>
          <p:nvPr/>
        </p:nvCxnSpPr>
        <p:spPr>
          <a:xfrm flipV="1">
            <a:off x="3086100" y="6411299"/>
            <a:ext cx="0" cy="887649"/>
          </a:xfrm>
          <a:prstGeom prst="line">
            <a:avLst/>
          </a:prstGeom>
          <a:ln w="15240">
            <a:solidFill>
              <a:srgbClr val="6F9E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664960" y="7440662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dirty="0" err="1">
                <a:solidFill>
                  <a:srgbClr val="6F9E98"/>
                </a:solidFill>
                <a:latin typeface="Arial"/>
              </a:rPr>
              <a:t>结果反馈与经验修订</a:t>
            </a:r>
            <a:endParaRPr sz="1600" b="0" dirty="0">
              <a:solidFill>
                <a:srgbClr val="6F9E9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68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E36F545F-5123-57BC-12D5-20433207D4AB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项目进展与后续安排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8C3748F-BE8F-F128-A718-657413844390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系统实现与当前进展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D0B432A-96A3-E017-C46D-E1E66D25B378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11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1F759B5A-8F46-33B7-1FAA-8EAFA4B35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4099"/>
              </p:ext>
            </p:extLst>
          </p:nvPr>
        </p:nvGraphicFramePr>
        <p:xfrm>
          <a:off x="628074" y="1965960"/>
          <a:ext cx="15045312" cy="5870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339">
                  <a:extLst>
                    <a:ext uri="{9D8B030D-6E8A-4147-A177-3AD203B41FA5}">
                      <a16:colId xmlns:a16="http://schemas.microsoft.com/office/drawing/2014/main" val="3960205201"/>
                    </a:ext>
                  </a:extLst>
                </a:gridCol>
                <a:gridCol w="7529512">
                  <a:extLst>
                    <a:ext uri="{9D8B030D-6E8A-4147-A177-3AD203B41FA5}">
                      <a16:colId xmlns:a16="http://schemas.microsoft.com/office/drawing/2014/main" val="1703603990"/>
                    </a:ext>
                  </a:extLst>
                </a:gridCol>
                <a:gridCol w="4843461">
                  <a:extLst>
                    <a:ext uri="{9D8B030D-6E8A-4147-A177-3AD203B41FA5}">
                      <a16:colId xmlns:a16="http://schemas.microsoft.com/office/drawing/2014/main" val="141189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系统模块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1" dirty="0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当前主要实现</a:t>
                      </a:r>
                    </a:p>
                  </a:txBody>
                  <a:tcPr marL="152400" marR="152400" marT="88900" marB="88900" anchor="ctr">
                    <a:lnL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1" dirty="0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关键状态与产物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371797"/>
                  </a:ext>
                </a:extLst>
              </a:tr>
              <a:tr h="1307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长期记忆管理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语义事件提炼、生命周期提案、版本及来源管理</a:t>
                      </a:r>
                    </a:p>
                  </a:txBody>
                  <a:tcPr marL="152400" marR="152400" marT="88900" marB="88900" anchor="ctr">
                    <a:lnL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mpd="sng">
                      <a:solidFill>
                        <a:srgbClr val="DCE3E9"/>
                      </a:solidFill>
                    </a:lnR>
                    <a:lnT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长期记忆条目、当前有效版本与历史来源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926386"/>
                  </a:ext>
                </a:extLst>
              </a:tr>
              <a:tr h="1307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情境检索与证据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BM25 默认召回；可选 Dense / RRF；适用性、冲突与充分性处理</a:t>
                      </a:r>
                    </a:p>
                  </a:txBody>
                  <a:tcPr marL="152400" marR="152400" marT="88900" marB="88900" anchor="ctr">
                    <a:lnL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mpd="sng">
                      <a:solidFill>
                        <a:srgbClr val="DCE3E9"/>
                      </a:solidFill>
                    </a:lnR>
                    <a:lnT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dirty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候选排名、适用性结果与证据包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777382"/>
                  </a:ext>
                </a:extLst>
              </a:tr>
              <a:tr h="1307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任务状态与运行时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事件状态更新、任务台账、检查点、预算内上下文；单智能体运行</a:t>
                      </a:r>
                    </a:p>
                  </a:txBody>
                  <a:tcPr marL="152400" marR="152400" marT="88900" marB="88900" anchor="ctr">
                    <a:lnL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mpd="sng">
                      <a:solidFill>
                        <a:srgbClr val="DCE3E9"/>
                      </a:solidFill>
                    </a:lnR>
                    <a:lnT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持续任务状态、工作集及工具回执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029659"/>
                  </a:ext>
                </a:extLst>
              </a:tr>
              <a:tr h="1307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多智能体串行协作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dirty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四角色分工、DAG 校验、受限执行、成果核验与持久化交接</a:t>
                      </a:r>
                    </a:p>
                  </a:txBody>
                  <a:tcPr marL="152400" marR="152400" marT="88900" marB="88900" anchor="ctr">
                    <a:lnL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mpd="sng">
                      <a:solidFill>
                        <a:srgbClr val="DCE3E9"/>
                      </a:solidFill>
                    </a:lnR>
                    <a:lnT w="762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900" b="0" dirty="0" err="1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结构化子任务、依赖关系与已核验成果</a:t>
                      </a:r>
                      <a:endParaRPr lang="en-US" altLang="zh-CN" sz="1900" b="0" dirty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165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63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E92B2094-07E2-7D4D-9DBF-B3718A82FD72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项目进展与后续安排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A77D392-F4FA-A44C-5A32-0321D5386463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后续研究与对照实验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56512D-7D63-54FB-D345-D82885CCAFC6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12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2B45F-D567-3A8A-DDAC-694B575C65EE}"/>
              </a:ext>
            </a:extLst>
          </p:cNvPr>
          <p:cNvSpPr txBox="1"/>
          <p:nvPr/>
        </p:nvSpPr>
        <p:spPr>
          <a:xfrm>
            <a:off x="812800" y="1803396"/>
            <a:ext cx="9321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执行方式 </a:t>
            </a:r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× </a:t>
            </a: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记忆机制：</a:t>
            </a:r>
            <a:r>
              <a:rPr lang="en-US" altLang="zh-CN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2×2 </a:t>
            </a:r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对照</a:t>
            </a: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34FCA3FE-D19D-DCB1-0E96-266D17F32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974042"/>
              </p:ext>
            </p:extLst>
          </p:nvPr>
        </p:nvGraphicFramePr>
        <p:xfrm>
          <a:off x="812800" y="2463797"/>
          <a:ext cx="93218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3238361394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1261225085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1703651663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执行方式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当前记忆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增强记忆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05426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强单智能体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单智能体＋当前记忆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单智能体＋增强记忆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10838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固定串行多智能体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多智能体＋当前记忆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 dirty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多智能体＋增强记忆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83315"/>
                  </a:ext>
                </a:extLst>
              </a:tr>
            </a:tbl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9670DC72-10BE-B6E5-9747-EBE84D3AD28D}"/>
              </a:ext>
            </a:extLst>
          </p:cNvPr>
          <p:cNvSpPr txBox="1"/>
          <p:nvPr/>
        </p:nvSpPr>
        <p:spPr>
          <a:xfrm>
            <a:off x="812800" y="4864096"/>
            <a:ext cx="932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固定实验条件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F170AA7-F261-9660-3420-276B1ABDAE0C}"/>
              </a:ext>
            </a:extLst>
          </p:cNvPr>
          <p:cNvSpPr txBox="1"/>
          <p:nvPr/>
        </p:nvSpPr>
        <p:spPr>
          <a:xfrm>
            <a:off x="812800" y="5329232"/>
            <a:ext cx="93218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同一任务集、模型版本、工具权限、可见历史
与系统总预算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0F1891-4F93-B8C3-D907-6EB8C0E9BD4B}"/>
              </a:ext>
            </a:extLst>
          </p:cNvPr>
          <p:cNvSpPr txBox="1"/>
          <p:nvPr/>
        </p:nvSpPr>
        <p:spPr>
          <a:xfrm>
            <a:off x="812800" y="6375396"/>
            <a:ext cx="932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逐项消融与评价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9346489-DA69-6E9F-AA7C-B13339F1E474}"/>
              </a:ext>
            </a:extLst>
          </p:cNvPr>
          <p:cNvSpPr txBox="1"/>
          <p:nvPr/>
        </p:nvSpPr>
        <p:spPr>
          <a:xfrm>
            <a:off x="812800" y="6878632"/>
            <a:ext cx="93218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移除原文核查、依赖状态、版本恢复、经验复用等机制。
比较成功率、约束满足率、证据误用与错误传播，
统计实际 </a:t>
            </a:r>
            <a:r>
              <a:rPr lang="en-US" altLang="zh-CN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Token</a:t>
            </a:r>
            <a:r>
              <a:rPr lang="zh-CN" altLang="en-US" sz="1900" dirty="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、模型调用成本和端到端耗时。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56EA31F-B568-8ECF-1C71-A78D84280225}"/>
              </a:ext>
            </a:extLst>
          </p:cNvPr>
          <p:cNvCxnSpPr/>
          <p:nvPr/>
        </p:nvCxnSpPr>
        <p:spPr>
          <a:xfrm>
            <a:off x="10604500" y="1790697"/>
            <a:ext cx="0" cy="6375400"/>
          </a:xfrm>
          <a:prstGeom prst="line">
            <a:avLst/>
          </a:prstGeom>
          <a:ln w="10160">
            <a:solidFill>
              <a:srgbClr val="DCE3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39DDB586-907C-AF60-B414-5DEF447AFDBA}"/>
              </a:ext>
            </a:extLst>
          </p:cNvPr>
          <p:cNvSpPr txBox="1"/>
          <p:nvPr/>
        </p:nvSpPr>
        <p:spPr>
          <a:xfrm>
            <a:off x="11087100" y="1803396"/>
            <a:ext cx="4356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3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评测任务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4E534C3-ECC2-5A5D-856C-70DBED942D5C}"/>
              </a:ext>
            </a:extLst>
          </p:cNvPr>
          <p:cNvSpPr txBox="1"/>
          <p:nvPr/>
        </p:nvSpPr>
        <p:spPr>
          <a:xfrm>
            <a:off x="11087100" y="2463796"/>
            <a:ext cx="43561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MemoryArena</a:t>
            </a:r>
            <a:endParaRPr lang="zh-CN" altLang="en-US" sz="2100" b="1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0627DC8-FCD0-CA25-FE27-DEF9A859C198}"/>
              </a:ext>
            </a:extLst>
          </p:cNvPr>
          <p:cNvSpPr txBox="1"/>
          <p:nvPr/>
        </p:nvSpPr>
        <p:spPr>
          <a:xfrm>
            <a:off x="11087100" y="2916232"/>
            <a:ext cx="43561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完整的长程、多会话
相互依赖任务组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95139BC-5B24-172A-5C63-C502F7A34980}"/>
              </a:ext>
            </a:extLst>
          </p:cNvPr>
          <p:cNvSpPr txBox="1"/>
          <p:nvPr/>
        </p:nvSpPr>
        <p:spPr>
          <a:xfrm>
            <a:off x="11087100" y="4013196"/>
            <a:ext cx="43561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2100" b="1">
                <a:solidFill>
                  <a:srgbClr val="477CA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LongMemEval</a:t>
            </a:r>
            <a:endParaRPr lang="zh-CN" altLang="en-US" sz="2100" b="1">
              <a:solidFill>
                <a:srgbClr val="477CA8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988990-8280-3BAE-02BB-4C65CBCDF60A}"/>
              </a:ext>
            </a:extLst>
          </p:cNvPr>
          <p:cNvSpPr txBox="1"/>
          <p:nvPr/>
        </p:nvSpPr>
        <p:spPr>
          <a:xfrm>
            <a:off x="11087100" y="4465632"/>
            <a:ext cx="4356100" cy="774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长期事实更新与
跨会话检索诊断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CB4E577-E763-81C9-8BD9-CC838A1C6A02}"/>
              </a:ext>
            </a:extLst>
          </p:cNvPr>
          <p:cNvSpPr txBox="1"/>
          <p:nvPr/>
        </p:nvSpPr>
        <p:spPr>
          <a:xfrm>
            <a:off x="11087100" y="5613396"/>
            <a:ext cx="43561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2100" b="1">
                <a:solidFill>
                  <a:srgbClr val="6F9E98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后续算法开发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77276EC-4655-8CD1-180A-E7A70268A4BC}"/>
              </a:ext>
            </a:extLst>
          </p:cNvPr>
          <p:cNvSpPr txBox="1"/>
          <p:nvPr/>
        </p:nvSpPr>
        <p:spPr>
          <a:xfrm>
            <a:off x="11087100" y="6103932"/>
            <a:ext cx="4356100" cy="191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900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证据需求与原始来源核查
完整输入版本与局部恢复
程序性经验准入与复用
可选受限并行调度</a:t>
            </a:r>
          </a:p>
        </p:txBody>
      </p:sp>
    </p:spTree>
    <p:extLst>
      <p:ext uri="{BB962C8B-B14F-4D97-AF65-F5344CB8AC3E}">
        <p14:creationId xmlns:p14="http://schemas.microsoft.com/office/powerpoint/2010/main" val="2609495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>
            <a:extLst>
              <a:ext uri="{FF2B5EF4-FFF2-40B4-BE49-F238E27FC236}">
                <a16:creationId xmlns:a16="http://schemas.microsoft.com/office/drawing/2014/main" id="{0788E30E-F69A-12BF-4004-55FDBAA10478}"/>
              </a:ext>
            </a:extLst>
          </p:cNvPr>
          <p:cNvSpPr txBox="1"/>
          <p:nvPr/>
        </p:nvSpPr>
        <p:spPr>
          <a:xfrm>
            <a:off x="812800" y="2921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MAPAS  /  </a:t>
            </a:r>
            <a:r>
              <a:rPr lang="zh-CN" altLang="en-US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项目进展与后续安排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9AD2A96-3771-78CF-DD0F-1AB6881AAE4B}"/>
              </a:ext>
            </a:extLst>
          </p:cNvPr>
          <p:cNvSpPr txBox="1"/>
          <p:nvPr/>
        </p:nvSpPr>
        <p:spPr>
          <a:xfrm>
            <a:off x="812800" y="647699"/>
            <a:ext cx="14630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200" b="1">
                <a:solidFill>
                  <a:srgbClr val="25364A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团队分工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3206F77-8BA9-D6D5-685F-2BC8CF32ABBC}"/>
              </a:ext>
            </a:extLst>
          </p:cNvPr>
          <p:cNvSpPr txBox="1"/>
          <p:nvPr/>
        </p:nvSpPr>
        <p:spPr>
          <a:xfrm>
            <a:off x="14605000" y="8775700"/>
            <a:ext cx="8382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100">
                <a:solidFill>
                  <a:srgbClr val="7B8794"/>
                </a:solidFill>
                <a:latin typeface="Arial" panose="020B0604020202020204" pitchFamily="34" charset="0"/>
                <a:ea typeface="Noto Sans SC" panose="020B0200000000000000" pitchFamily="34" charset="-122"/>
              </a:rPr>
              <a:t>13 / 13</a:t>
            </a:r>
            <a:endParaRPr lang="zh-CN" altLang="en-US" sz="1100">
              <a:solidFill>
                <a:srgbClr val="7B8794"/>
              </a:solidFill>
              <a:latin typeface="Arial" panose="020B0604020202020204" pitchFamily="34" charset="0"/>
              <a:ea typeface="Noto Sans SC" panose="020B0200000000000000" pitchFamily="34" charset="-122"/>
            </a:endParaRP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9A44F48A-B0A0-C445-1775-4828127FE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766414"/>
              </p:ext>
            </p:extLst>
          </p:nvPr>
        </p:nvGraphicFramePr>
        <p:xfrm>
          <a:off x="812799" y="2146300"/>
          <a:ext cx="14630400" cy="561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997958097"/>
                    </a:ext>
                  </a:extLst>
                </a:gridCol>
                <a:gridCol w="9118600">
                  <a:extLst>
                    <a:ext uri="{9D8B030D-6E8A-4147-A177-3AD203B41FA5}">
                      <a16:colId xmlns:a16="http://schemas.microsoft.com/office/drawing/2014/main" val="1311367856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176506934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成员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负责内容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1">
                          <a:solidFill>
                            <a:srgbClr val="477CA8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当前贡献比例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27506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彭博文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团队协调与系统框架搭建，材料汇总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30%</a:t>
                      </a:r>
                      <a:endParaRPr lang="zh-CN" altLang="en-US" sz="2200" b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08173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蔡雨杉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核心系统开发与集成实现，算法研究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30%</a:t>
                      </a:r>
                      <a:endParaRPr lang="zh-CN" altLang="en-US" sz="2200" b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03762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杨紫壮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文献调研与方法汇总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10%</a:t>
                      </a:r>
                      <a:endParaRPr lang="zh-CN" altLang="en-US" sz="2200" b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05311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刘皓宇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前端规划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10%</a:t>
                      </a:r>
                      <a:endParaRPr lang="zh-CN" altLang="en-US" sz="2200" b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19423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沈恒睿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材料辅助整理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10%</a:t>
                      </a:r>
                      <a:endParaRPr lang="zh-CN" altLang="en-US" sz="2200" b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1538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王梓枭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200" b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系统测评准备工作</a:t>
                      </a: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200" b="0" dirty="0">
                          <a:solidFill>
                            <a:srgbClr val="25364A"/>
                          </a:solidFill>
                          <a:latin typeface="Arial" panose="020B0604020202020204" pitchFamily="34" charset="0"/>
                          <a:ea typeface="Noto Sans SC" panose="020B0200000000000000" pitchFamily="34" charset="-122"/>
                        </a:rPr>
                        <a:t>10%</a:t>
                      </a:r>
                      <a:endParaRPr lang="zh-CN" altLang="en-US" sz="2200" b="0" dirty="0">
                        <a:solidFill>
                          <a:srgbClr val="25364A"/>
                        </a:solidFill>
                        <a:latin typeface="Arial" panose="020B0604020202020204" pitchFamily="34" charset="0"/>
                        <a:ea typeface="Noto Sans SC" panose="020B0200000000000000" pitchFamily="34" charset="-122"/>
                      </a:endParaRPr>
                    </a:p>
                  </a:txBody>
                  <a:tcPr marL="152400" marR="152400" marT="88900" marB="88900" anchor="ctr">
                    <a:lnL w="7620" cmpd="sng">
                      <a:solidFill>
                        <a:srgbClr val="DCE3E9"/>
                      </a:solidFill>
                    </a:lnL>
                    <a:lnR w="7620" cmpd="sng">
                      <a:solidFill>
                        <a:srgbClr val="DCE3E9"/>
                      </a:solidFill>
                    </a:lnR>
                    <a:lnT w="7620" cmpd="sng">
                      <a:solidFill>
                        <a:srgbClr val="DCE3E9"/>
                      </a:solidFill>
                    </a:lnT>
                    <a:lnB w="7620" cmpd="sng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12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08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2092</Words>
  <Application>Microsoft Macintosh PowerPoint</Application>
  <PresentationFormat>自定义</PresentationFormat>
  <Paragraphs>298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彭</dc:creator>
  <cp:lastModifiedBy>mac</cp:lastModifiedBy>
  <cp:revision>74</cp:revision>
  <dcterms:created xsi:type="dcterms:W3CDTF">2026-10-21T06:14:35Z</dcterms:created>
  <dcterms:modified xsi:type="dcterms:W3CDTF">2026-10-21T17:10:53Z</dcterms:modified>
</cp:coreProperties>
</file>